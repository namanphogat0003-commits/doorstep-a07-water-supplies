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MAE (L)</c:v>
                </c:pt>
              </c:strCache>
            </c:strRef>
          </c:tx>
          <c:spPr>
            <a:solidFill>
              <a:srgbClr val="68808B"/>
            </a:solidFill>
            <a:effectLst/>
          </c:spPr>
          <c:invertIfNegative val="0"/>
          <c:dLbls>
            <c:numFmt formatCode="0.00" sourceLinked="0"/>
            <c:txPr>
              <a:bodyPr/>
              <a:lstStyle/>
              <a:p>
                <a:pPr>
                  <a:defRPr b="0" i="0" strike="noStrike" sz="1400" u="none">
                    <a:solidFill>
                      <a:srgbClr val="12333F"/>
                    </a:solidFill>
                    <a:latin typeface="Calibri"/>
                  </a:defRPr>
                </a:pPr>
              </a:p>
            </c:txPr>
            <c:showLegendKey val="0"/>
            <c:showVal val="1"/>
            <c:showCatName val="0"/>
            <c:showSerName val="0"/>
            <c:showPercent val="0"/>
            <c:showBubbleSize val="0"/>
            <c:showLeaderLines val="0"/>
          </c:dLbls>
          <c:dPt>
            <c:idx val="0"/>
            <c:invertIfNegative val="0"/>
            <c:bubble3D val="0"/>
            <c:spPr>
              <a:solidFill>
                <a:srgbClr val="68808B"/>
              </a:solidFill>
              <a:effectLst/>
            </c:spPr>
          </c:dPt>
          <c:dPt>
            <c:idx val="1"/>
            <c:invertIfNegative val="0"/>
            <c:bubble3D val="0"/>
            <c:spPr>
              <a:solidFill>
                <a:srgbClr val="68808B"/>
              </a:solidFill>
              <a:effectLst/>
            </c:spPr>
          </c:dPt>
          <c:dPt>
            <c:idx val="2"/>
            <c:invertIfNegative val="0"/>
            <c:bubble3D val="0"/>
            <c:spPr>
              <a:solidFill>
                <a:srgbClr val="0B6E8C"/>
              </a:solidFill>
              <a:effectLst/>
            </c:spPr>
          </c:dPt>
          <c:dPt>
            <c:idx val="3"/>
            <c:invertIfNegative val="0"/>
            <c:bubble3D val="0"/>
            <c:spPr>
              <a:solidFill>
                <a:srgbClr val="17A398"/>
              </a:solidFill>
              <a:effectLst/>
            </c:spPr>
          </c:dPt>
          <c:cat>
            <c:multiLvlStrRef>
              <c:f>Sheet1!$A$2:$A$5</c:f>
              <c:multiLvlStrCache>
                <c:ptCount val="4"/>
                <c:lvl>
                  <c:pt idx="0">
                    <c:v>Global mean</c:v>
                  </c:pt>
                  <c:pt idx="1">
                    <c:v>Vehicle-size mean</c:v>
                  </c:pt>
                  <c:pt idx="2">
                    <c:v>Planning model</c:v>
                  </c:pt>
                  <c:pt idx="3">
                    <c:v>On-site model</c:v>
                  </c:pt>
                </c:lvl>
              </c:multiLvlStrCache>
            </c:multiLvlStrRef>
          </c:cat>
          <c:val>
            <c:numRef>
              <c:f>Sheet1!$B$2:$B$5</c:f>
              <c:numCache>
                <c:formatCode>General</c:formatCode>
                <c:ptCount val="4"/>
                <c:pt idx="0">
                  <c:v>11.152</c:v>
                </c:pt>
                <c:pt idx="1">
                  <c:v>8.922</c:v>
                </c:pt>
                <c:pt idx="2">
                  <c:v>5.897</c:v>
                </c:pt>
                <c:pt idx="3">
                  <c:v>2.397</c:v>
                </c:pt>
              </c:numCache>
            </c:numRef>
          </c:val>
        </c:ser>
        <c:dLbls>
          <c:numFmt formatCode="0.00" sourceLinked="0"/>
          <c:txPr>
            <a:bodyPr/>
            <a:lstStyle/>
            <a:p>
              <a:pPr>
                <a:defRPr b="0" i="0" strike="noStrike" sz="1400" u="none">
                  <a:solidFill>
                    <a:srgbClr val="12333F"/>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8808B"/>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BEF"/>
              </a:solidFill>
              <a:prstDash val="solid"/>
              <a:round/>
            </a:ln>
          </c:spPr>
        </c:majorGridlines>
        <c:title>
          <c:tx>
            <c:rich>
              <a:bodyPr/>
              <a:lstStyle/>
              <a:p>
                <a:pPr>
                  <a:defRPr sz="1400" b="0" i="0" u="none" strike="noStrike">
                    <a:solidFill>
                      <a:srgbClr val="68808B"/>
                    </a:solidFill>
                    <a:latin typeface="Calibri"/>
                  </a:defRPr>
                </a:pPr>
                <a:r>
                  <a:rPr sz="1400" b="0" i="0" u="none" strike="noStrike">
                    <a:solidFill>
                      <a:srgbClr val="68808B"/>
                    </a:solidFill>
                    <a:latin typeface="Calibri"/>
                  </a:rPr>
                  <a:t>mean absolute error, litres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8808B"/>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Mean-based</c:v>
                </c:pt>
              </c:strCache>
            </c:strRef>
          </c:tx>
          <c:spPr>
            <a:solidFill>
              <a:srgbClr val="68808B"/>
            </a:solidFill>
            <a:effectLst/>
          </c:spPr>
          <c:invertIfNegative val="0"/>
          <c:dLbls>
            <c:numFmt formatCode="#,##0" sourceLinked="0"/>
            <c:txPr>
              <a:bodyPr/>
              <a:lstStyle/>
              <a:p>
                <a:pPr>
                  <a:defRPr b="0" i="0" strike="noStrike" sz="1400" u="none">
                    <a:solidFill>
                      <a:srgbClr val="12333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200 L van</c:v>
                  </c:pt>
                  <c:pt idx="1">
                    <c:v>280 L van</c:v>
                  </c:pt>
                  <c:pt idx="2">
                    <c:v>350 L van</c:v>
                  </c:pt>
                </c:lvl>
              </c:multiLvlStrCache>
            </c:multiLvlStrRef>
          </c:cat>
          <c:val>
            <c:numRef>
              <c:f>Sheet1!$B$2:$B$4</c:f>
              <c:numCache>
                <c:formatCode>General</c:formatCode>
                <c:ptCount val="3"/>
                <c:pt idx="0">
                  <c:v>3</c:v>
                </c:pt>
                <c:pt idx="1">
                  <c:v>5</c:v>
                </c:pt>
                <c:pt idx="2">
                  <c:v>6</c:v>
                </c:pt>
              </c:numCache>
            </c:numRef>
          </c:val>
        </c:ser>
        <c:ser>
          <c:idx val="1"/>
          <c:order val="1"/>
          <c:tx>
            <c:strRef>
              <c:f>Sheet1!$C$1</c:f>
              <c:strCache>
                <c:ptCount val="1"/>
                <c:pt idx="0">
                  <c:v>95% service level</c:v>
                </c:pt>
              </c:strCache>
            </c:strRef>
          </c:tx>
          <c:spPr>
            <a:solidFill>
              <a:srgbClr val="0B6E8C"/>
            </a:solidFill>
            <a:effectLst/>
          </c:spPr>
          <c:invertIfNegative val="0"/>
          <c:dLbls>
            <c:numFmt formatCode="#,##0" sourceLinked="0"/>
            <c:txPr>
              <a:bodyPr/>
              <a:lstStyle/>
              <a:p>
                <a:pPr>
                  <a:defRPr b="0" i="0" strike="noStrike" sz="1400" u="none">
                    <a:solidFill>
                      <a:srgbClr val="12333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200 L van</c:v>
                  </c:pt>
                  <c:pt idx="1">
                    <c:v>280 L van</c:v>
                  </c:pt>
                  <c:pt idx="2">
                    <c:v>350 L van</c:v>
                  </c:pt>
                </c:lvl>
              </c:multiLvlStrCache>
            </c:multiLvlStrRef>
          </c:cat>
          <c:val>
            <c:numRef>
              <c:f>Sheet1!$C$2:$C$4</c:f>
              <c:numCache>
                <c:formatCode>General</c:formatCode>
                <c:ptCount val="3"/>
                <c:pt idx="0">
                  <c:v>2</c:v>
                </c:pt>
                <c:pt idx="1">
                  <c:v>4</c:v>
                </c:pt>
                <c:pt idx="2">
                  <c:v>5</c:v>
                </c:pt>
              </c:numCache>
            </c:numRef>
          </c:val>
        </c:ser>
        <c:dLbls>
          <c:numFmt formatCode="#,##0" sourceLinked="0"/>
          <c:txPr>
            <a:bodyPr/>
            <a:lstStyle/>
            <a:p>
              <a:pPr>
                <a:defRPr b="0" i="0" strike="noStrike" sz="1400" u="none">
                  <a:solidFill>
                    <a:srgbClr val="12333F"/>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8808B"/>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BEF"/>
              </a:solidFill>
              <a:prstDash val="solid"/>
              <a:round/>
            </a:ln>
          </c:spPr>
        </c:majorGridlines>
        <c:title>
          <c:tx>
            <c:rich>
              <a:bodyPr/>
              <a:lstStyle/>
              <a:p>
                <a:pPr>
                  <a:defRPr sz="1400" b="0" i="0" u="none" strike="noStrike">
                    <a:solidFill>
                      <a:srgbClr val="68808B"/>
                    </a:solidFill>
                    <a:latin typeface="Calibri"/>
                  </a:defRPr>
                </a:pPr>
                <a:r>
                  <a:rPr sz="1400" b="0" i="0" u="none" strike="noStrike">
                    <a:solidFill>
                      <a:srgbClr val="68808B"/>
                    </a:solidFill>
                    <a:latin typeface="Calibri"/>
                  </a:rPr>
                  <a:t>jobs per tank</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8808B"/>
                </a:solidFill>
                <a:latin typeface="Calibri"/>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400">
              <a:solidFill>
                <a:srgbClr val="68808B"/>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Crew-days that run dry (%)</c:v>
                </c:pt>
              </c:strCache>
            </c:strRef>
          </c:tx>
          <c:spPr>
            <a:solidFill>
              <a:srgbClr val="68808B"/>
            </a:solidFill>
            <a:effectLst/>
          </c:spPr>
          <c:invertIfNegative val="0"/>
          <c:dLbls>
            <c:numFmt formatCode="0.0" sourceLinked="0"/>
            <c:txPr>
              <a:bodyPr/>
              <a:lstStyle/>
              <a:p>
                <a:pPr>
                  <a:defRPr b="0" i="0" strike="noStrike" sz="1400" u="none">
                    <a:solidFill>
                      <a:srgbClr val="12333F"/>
                    </a:solidFill>
                    <a:latin typeface="Calibri"/>
                  </a:defRPr>
                </a:pPr>
              </a:p>
            </c:txPr>
            <c:showLegendKey val="0"/>
            <c:showVal val="1"/>
            <c:showCatName val="0"/>
            <c:showSerName val="0"/>
            <c:showPercent val="0"/>
            <c:showBubbleSize val="0"/>
            <c:showLeaderLines val="0"/>
          </c:dLbls>
          <c:dPt>
            <c:idx val="0"/>
            <c:invertIfNegative val="0"/>
            <c:bubble3D val="0"/>
            <c:spPr>
              <a:solidFill>
                <a:srgbClr val="68808B"/>
              </a:solidFill>
              <a:effectLst/>
            </c:spPr>
          </c:dPt>
          <c:dPt>
            <c:idx val="1"/>
            <c:invertIfNegative val="0"/>
            <c:bubble3D val="0"/>
            <c:spPr>
              <a:solidFill>
                <a:srgbClr val="68808B"/>
              </a:solidFill>
              <a:effectLst/>
            </c:spPr>
          </c:dPt>
          <c:dPt>
            <c:idx val="2"/>
            <c:invertIfNegative val="0"/>
            <c:bubble3D val="0"/>
            <c:spPr>
              <a:solidFill>
                <a:srgbClr val="C25332"/>
              </a:solidFill>
              <a:effectLst/>
            </c:spPr>
          </c:dPt>
          <c:dPt>
            <c:idx val="3"/>
            <c:invertIfNegative val="0"/>
            <c:bubble3D val="0"/>
            <c:spPr>
              <a:solidFill>
                <a:srgbClr val="17A398"/>
              </a:solidFill>
              <a:effectLst/>
            </c:spPr>
          </c:dPt>
          <c:cat>
            <c:multiLvlStrRef>
              <c:f>Sheet1!$A$2:$A$5</c:f>
              <c:multiLvlStrCache>
                <c:ptCount val="4"/>
                <c:lvl>
                  <c:pt idx="0">
                    <c:v>Booked order</c:v>
                  </c:pt>
                  <c:pt idx="1">
                    <c:v>Greedy by value</c:v>
                  </c:pt>
                  <c:pt idx="2">
                    <c:v>Exact knapsack</c:v>
                  </c:pt>
                  <c:pt idx="3">
                    <c:v>Knapsack on interval</c:v>
                  </c:pt>
                </c:lvl>
              </c:multiLvlStrCache>
            </c:multiLvlStrRef>
          </c:cat>
          <c:val>
            <c:numRef>
              <c:f>Sheet1!$B$2:$B$5</c:f>
              <c:numCache>
                <c:formatCode>General</c:formatCode>
                <c:ptCount val="4"/>
                <c:pt idx="0">
                  <c:v>5.9</c:v>
                </c:pt>
                <c:pt idx="1">
                  <c:v>8.1</c:v>
                </c:pt>
                <c:pt idx="2">
                  <c:v>11.9</c:v>
                </c:pt>
                <c:pt idx="3">
                  <c:v>0</c:v>
                </c:pt>
              </c:numCache>
            </c:numRef>
          </c:val>
        </c:ser>
        <c:dLbls>
          <c:numFmt formatCode="0.0" sourceLinked="0"/>
          <c:txPr>
            <a:bodyPr/>
            <a:lstStyle/>
            <a:p>
              <a:pPr>
                <a:defRPr b="0" i="0" strike="noStrike" sz="1400" u="none">
                  <a:solidFill>
                    <a:srgbClr val="12333F"/>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8808B"/>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BEF"/>
              </a:solidFill>
              <a:prstDash val="solid"/>
              <a:round/>
            </a:ln>
          </c:spPr>
        </c:majorGridlines>
        <c:title>
          <c:tx>
            <c:rich>
              <a:bodyPr/>
              <a:lstStyle/>
              <a:p>
                <a:pPr>
                  <a:defRPr sz="1400" b="0" i="0" u="none" strike="noStrike">
                    <a:solidFill>
                      <a:srgbClr val="68808B"/>
                    </a:solidFill>
                    <a:latin typeface="Calibri"/>
                  </a:defRPr>
                </a:pPr>
                <a:r>
                  <a:rPr sz="1400" b="0" i="0" u="none" strike="noStrike">
                    <a:solidFill>
                      <a:srgbClr val="68808B"/>
                    </a:solidFill>
                    <a:latin typeface="Calibri"/>
                  </a:rPr>
                  <a:t>% of crew-days that run dry</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8808B"/>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Naman opens, 20 seconds. Doorstep washes cars wherever the customer already is. The van carries its own water, so the tank limits the day, not demand. Our module answers two questions: how much water will this job take, and how many jobs fit before a refill.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Naman. The three numbers do the work. Crews draw 262 litres a day, tanks hold 200 to 350, so on the small van six days in ten need a refill. That is the motivation: a single jobs-per-tank number cannot describe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Ranu presents. The point to land: we nearly missed the second-largest effect in the data because it sat inside a delimited string rather than being exposed as a column. Left chart flat, right chart not, same jobs. Likely question: how did you find it? By exploding the items column and grouping — not from the correlation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Ranu. Short slide. The curves are parallel in ratio, not in difference — that is what multiplicative means, and the ratio table is how we saw it. Consequence in one line: we add the interaction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Vansh, and do not rush this — the whole module rests on it. Using dirtiness at booking time would be leakage: the model benchmarks well and fails in deployment. So two models on disjoint feature sets, with a test enforcing that planning features never include dirtiness. Expect: why not predict dirtiness? We tried. It behaves as an independent draw — uncorrelated with weather, flat across months, and the same customer varies more than customers differ from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Vansh. Name the baseline before the model — the rubric rewards that specifically. Global mean 11.15 litres is what guessing gets you. Quote the spread: plus or minus 0.04 at planning, 0.014 on-site. Do not claim the on-site model could be improved; it is at the irreducible noise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Vansh. The honesty slide, and the guidebook says explicitly that it scores. We are not claiming a win; we are claiming we cannot tell the models apart, and we can only say that because we ran ten seeds. Expect: why build the complex models? To establish the simple one is sufficient. That is a result, not a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Priyanshu. One of the two required deliverables. The trap: 280 divided by 55.7 equals five looks obviously right and is obviously wrong — it throws away the spread. We resample 20,000 crew-days instead. Add that 2/4/5 is identical under all ten resampling seeds, so it is a property of the distribution, not of one draw.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Priyanshu. A single jobs-per-tank number hides the real constraint. We count refills by walking each crew-day in arrival order and topping up before any job the remaining water cannot cover. This is the number A12 needs for fleet sizing, and it is in INTEGRATION.md.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Priyanshu — spend time here, it is the most interesting result we have. We expected a better optimiser to be strictly better. It is not: the exact knapsack doubles the failure rate against simply serving in booked order, because tight packing consumes the slack that was quietly absorbing prediction error. The fix is to feed the optimiser the interval instead of the point estimate. If asked whether this is known: yes, Elmachtoub and Grigas, Smart Predict-then-Optimize — though their uncertainty sits in the objective and ours is in the constraint. Also note greedy reaches 99% of the exact solution, so we built the knapsack mainly to prove greedy was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Rudransh. Every figure is cited — EPA WaterSense, the International Carwash Association, and Zaneti et al., who audited a reclamation plant needing under 40 litres of fresh water per wash. That corroborates our result from outside our own data. The right-hand card is what earns marks: we are telling the examiner where our own product loses. INTEGRATION.md records what other teams may and may not claim on our behalf.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Naman closes. Three recommendations, then the open gap — a good note to end on because it points at another team and shows we understand the system. Then questions. Reminder for all five: everyone is asked individually, so know the file you own line by line and roughly what the others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33F"/>
        </a:solidFill>
      </p:bgPr>
    </p:bg>
    <p:spTree>
      <p:nvGrpSpPr>
        <p:cNvPr id="1" name=""/>
        <p:cNvGrpSpPr/>
        <p:nvPr/>
      </p:nvGrpSpPr>
      <p:grpSpPr>
        <a:xfrm>
          <a:off x="0" y="0"/>
          <a:ext cx="0" cy="0"/>
          <a:chOff x="0" y="0"/>
          <a:chExt cx="0" cy="0"/>
        </a:xfrm>
      </p:grpSpPr>
      <p:sp>
        <p:nvSpPr>
          <p:cNvPr id="2" name="Text 0"/>
          <p:cNvSpPr txBox="1"/>
          <p:nvPr/>
        </p:nvSpPr>
        <p:spPr>
          <a:xfrm>
            <a:off x="685800" y="1828800"/>
            <a:ext cx="8974074" cy="296164"/>
          </a:xfrm>
          <a:prstGeom prst="rect">
            <a:avLst/>
          </a:prstGeom>
          <a:noFill/>
          <a:ln/>
        </p:spPr>
        <p:txBody>
          <a:bodyPr wrap="square" lIns="0" tIns="0" rIns="0" bIns="0" rtlCol="0" anchor="t"/>
          <a:lstStyle/>
          <a:p>
            <a:pPr indent="0" marL="0">
              <a:lnSpc>
                <a:spcPts val="1900"/>
              </a:lnSpc>
              <a:buNone/>
            </a:pPr>
            <a:r>
              <a:rPr lang="en-US" sz="1400" b="1" spc="200" kern="0" dirty="0">
                <a:solidFill>
                  <a:srgbClr val="17A398"/>
                </a:solidFill>
                <a:latin typeface="Calibri" pitchFamily="34" charset="0"/>
                <a:ea typeface="Calibri" pitchFamily="34" charset="-122"/>
                <a:cs typeface="Calibri" pitchFamily="34" charset="-120"/>
              </a:rPr>
              <a:t>MODULE A7</a:t>
            </a:r>
            <a:endParaRPr lang="en-US" sz="1400" dirty="0"/>
          </a:p>
        </p:txBody>
      </p:sp>
      <p:sp>
        <p:nvSpPr>
          <p:cNvPr id="3" name="Text 1"/>
          <p:cNvSpPr txBox="1"/>
          <p:nvPr/>
        </p:nvSpPr>
        <p:spPr>
          <a:xfrm>
            <a:off x="685800" y="2234692"/>
            <a:ext cx="8974074" cy="753364"/>
          </a:xfrm>
          <a:prstGeom prst="rect">
            <a:avLst/>
          </a:prstGeom>
          <a:noFill/>
          <a:ln/>
        </p:spPr>
        <p:txBody>
          <a:bodyPr wrap="square" lIns="0" tIns="0" rIns="0" bIns="0" rtlCol="0" anchor="t"/>
          <a:lstStyle/>
          <a:p>
            <a:pPr indent="0" marL="0">
              <a:lnSpc>
                <a:spcPts val="5500"/>
              </a:lnSpc>
              <a:buNone/>
            </a:pPr>
            <a:r>
              <a:rPr lang="en-US" sz="4000" b="1" dirty="0">
                <a:solidFill>
                  <a:srgbClr val="FFFFFF"/>
                </a:solidFill>
                <a:latin typeface="Cambria" pitchFamily="34" charset="0"/>
                <a:ea typeface="Cambria" pitchFamily="34" charset="-122"/>
                <a:cs typeface="Cambria" pitchFamily="34" charset="-120"/>
              </a:rPr>
              <a:t>Water and Supplies</a:t>
            </a:r>
            <a:endParaRPr lang="en-US" sz="4000" dirty="0"/>
          </a:p>
        </p:txBody>
      </p:sp>
      <p:sp>
        <p:nvSpPr>
          <p:cNvPr id="4" name="Text 2"/>
          <p:cNvSpPr txBox="1"/>
          <p:nvPr/>
        </p:nvSpPr>
        <p:spPr>
          <a:xfrm>
            <a:off x="685800" y="3097784"/>
            <a:ext cx="8974074" cy="410464"/>
          </a:xfrm>
          <a:prstGeom prst="rect">
            <a:avLst/>
          </a:prstGeom>
          <a:noFill/>
          <a:ln/>
        </p:spPr>
        <p:txBody>
          <a:bodyPr wrap="square" lIns="0" tIns="0" rIns="0" bIns="0" rtlCol="0" anchor="t"/>
          <a:lstStyle/>
          <a:p>
            <a:pPr indent="0" marL="0">
              <a:lnSpc>
                <a:spcPts val="2800"/>
              </a:lnSpc>
              <a:buNone/>
            </a:pPr>
            <a:r>
              <a:rPr lang="en-US" sz="2000" dirty="0">
                <a:solidFill>
                  <a:srgbClr val="17A398"/>
                </a:solidFill>
                <a:latin typeface="Calibri" pitchFamily="34" charset="0"/>
                <a:ea typeface="Calibri" pitchFamily="34" charset="-122"/>
                <a:cs typeface="Calibri" pitchFamily="34" charset="-120"/>
              </a:rPr>
              <a:t>How much water a job takes, and how many jobs fit in the tank</a:t>
            </a:r>
            <a:endParaRPr lang="en-US" sz="2000" dirty="0"/>
          </a:p>
        </p:txBody>
      </p:sp>
      <p:sp>
        <p:nvSpPr>
          <p:cNvPr id="5" name="Text 3"/>
          <p:cNvSpPr txBox="1"/>
          <p:nvPr/>
        </p:nvSpPr>
        <p:spPr>
          <a:xfrm>
            <a:off x="685800" y="4696968"/>
            <a:ext cx="8974074" cy="372364"/>
          </a:xfrm>
          <a:prstGeom prst="rect">
            <a:avLst/>
          </a:prstGeom>
          <a:noFill/>
          <a:ln/>
        </p:spPr>
        <p:txBody>
          <a:bodyPr wrap="square" lIns="0" tIns="0" rIns="0" bIns="0" rtlCol="0" anchor="t"/>
          <a:lstStyle/>
          <a:p>
            <a:pPr indent="0" marL="0">
              <a:lnSpc>
                <a:spcPts val="2500"/>
              </a:lnSpc>
              <a:buNone/>
            </a:pPr>
            <a:r>
              <a:rPr lang="en-US" sz="1800" dirty="0">
                <a:solidFill>
                  <a:srgbClr val="FFFFFF"/>
                </a:solidFill>
                <a:latin typeface="Calibri" pitchFamily="34" charset="0"/>
                <a:ea typeface="Calibri" pitchFamily="34" charset="-122"/>
                <a:cs typeface="Calibri" pitchFamily="34" charset="-120"/>
              </a:rPr>
              <a:t>Naman Kumar   ·   Ranu Raj   ·   Vansh Rana   ·   Priyanshu   ·   Rudransh</a:t>
            </a:r>
            <a:endParaRPr lang="en-US" sz="1800" dirty="0"/>
          </a:p>
        </p:txBody>
      </p:sp>
      <p:sp>
        <p:nvSpPr>
          <p:cNvPr id="6" name="Text 4"/>
          <p:cNvSpPr txBox="1"/>
          <p:nvPr/>
        </p:nvSpPr>
        <p:spPr>
          <a:xfrm>
            <a:off x="685800" y="5160772"/>
            <a:ext cx="8974074" cy="296164"/>
          </a:xfrm>
          <a:prstGeom prst="rect">
            <a:avLst/>
          </a:prstGeom>
          <a:noFill/>
          <a:ln/>
        </p:spPr>
        <p:txBody>
          <a:bodyPr wrap="square" lIns="0" tIns="0" rIns="0" bIns="0" rtlCol="0" anchor="t"/>
          <a:lstStyle/>
          <a:p>
            <a:pPr indent="0" marL="0">
              <a:lnSpc>
                <a:spcPts val="1900"/>
              </a:lnSpc>
              <a:buNone/>
            </a:pPr>
            <a:r>
              <a:rPr lang="en-US" sz="1400" dirty="0">
                <a:solidFill>
                  <a:srgbClr val="AFC7D0"/>
                </a:solidFill>
                <a:latin typeface="Calibri" pitchFamily="34" charset="0"/>
                <a:ea typeface="Calibri" pitchFamily="34" charset="-122"/>
                <a:cs typeface="Calibri" pitchFamily="34" charset="-120"/>
              </a:rPr>
              <a:t>Doorstep · Track A · Service as a Service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333F"/>
        </a:solidFill>
      </p:bgPr>
    </p:bg>
    <p:spTree>
      <p:nvGrpSpPr>
        <p:cNvPr id="1" name=""/>
        <p:cNvGrpSpPr/>
        <p:nvPr/>
      </p:nvGrpSpPr>
      <p:grpSpPr>
        <a:xfrm>
          <a:off x="0" y="0"/>
          <a:ext cx="0" cy="0"/>
          <a:chOff x="0" y="0"/>
          <a:chExt cx="0" cy="0"/>
        </a:xfrm>
      </p:grpSpPr>
      <p:sp>
        <p:nvSpPr>
          <p:cNvPr id="2" name="Text 0"/>
          <p:cNvSpPr txBox="1"/>
          <p:nvPr/>
        </p:nvSpPr>
        <p:spPr>
          <a:xfrm>
            <a:off x="685800" y="685800"/>
            <a:ext cx="10820095" cy="274320"/>
          </a:xfrm>
          <a:prstGeom prst="rect">
            <a:avLst/>
          </a:prstGeom>
          <a:noFill/>
          <a:ln/>
        </p:spPr>
        <p:txBody>
          <a:bodyPr wrap="square" lIns="0" tIns="0" rIns="0" bIns="0" rtlCol="0" anchor="t"/>
          <a:lstStyle/>
          <a:p>
            <a:pPr indent="0" marL="0">
              <a:buNone/>
            </a:pPr>
            <a:r>
              <a:rPr lang="en-US" sz="1400" b="1" spc="200" kern="0" dirty="0">
                <a:solidFill>
                  <a:srgbClr val="17A398"/>
                </a:solidFill>
                <a:latin typeface="Calibri" pitchFamily="34" charset="0"/>
                <a:ea typeface="Calibri" pitchFamily="34" charset="-122"/>
                <a:cs typeface="Calibri" pitchFamily="34" charset="-120"/>
              </a:rPr>
              <a:t>THE CONSTRAINT</a:t>
            </a:r>
            <a:endParaRPr lang="en-US" sz="1400" dirty="0"/>
          </a:p>
        </p:txBody>
      </p:sp>
      <p:sp>
        <p:nvSpPr>
          <p:cNvPr id="3" name="Text 1"/>
          <p:cNvSpPr txBox="1"/>
          <p:nvPr/>
        </p:nvSpPr>
        <p:spPr>
          <a:xfrm>
            <a:off x="685800" y="1024128"/>
            <a:ext cx="9897085" cy="8686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Run out at job six and the rest of the day is cancelled</a:t>
            </a:r>
            <a:endParaRPr lang="en-US" sz="3000" dirty="0"/>
          </a:p>
        </p:txBody>
      </p:sp>
      <p:sp>
        <p:nvSpPr>
          <p:cNvPr id="4" name="Text 2"/>
          <p:cNvSpPr txBox="1"/>
          <p:nvPr/>
        </p:nvSpPr>
        <p:spPr>
          <a:xfrm>
            <a:off x="685800" y="2057400"/>
            <a:ext cx="9897085" cy="410464"/>
          </a:xfrm>
          <a:prstGeom prst="rect">
            <a:avLst/>
          </a:prstGeom>
          <a:noFill/>
          <a:ln/>
        </p:spPr>
        <p:txBody>
          <a:bodyPr wrap="square" lIns="0" tIns="0" rIns="0" bIns="0" rtlCol="0" anchor="t"/>
          <a:lstStyle/>
          <a:p>
            <a:pPr indent="0" marL="0">
              <a:lnSpc>
                <a:spcPts val="2800"/>
              </a:lnSpc>
              <a:buNone/>
            </a:pPr>
            <a:r>
              <a:rPr lang="en-US" sz="2000" dirty="0">
                <a:solidFill>
                  <a:srgbClr val="AFC7D0"/>
                </a:solidFill>
                <a:latin typeface="Calibri" pitchFamily="34" charset="0"/>
                <a:ea typeface="Calibri" pitchFamily="34" charset="-122"/>
                <a:cs typeface="Calibri" pitchFamily="34" charset="-120"/>
              </a:rPr>
              <a:t>Capacity, not demand, is what bounds a crew's day.</a:t>
            </a:r>
            <a:endParaRPr lang="en-US" sz="2000" dirty="0"/>
          </a:p>
        </p:txBody>
      </p:sp>
      <p:sp>
        <p:nvSpPr>
          <p:cNvPr id="5" name="Text 3"/>
          <p:cNvSpPr txBox="1"/>
          <p:nvPr/>
        </p:nvSpPr>
        <p:spPr>
          <a:xfrm>
            <a:off x="685800" y="3703320"/>
            <a:ext cx="2513000" cy="534924"/>
          </a:xfrm>
          <a:prstGeom prst="rect">
            <a:avLst/>
          </a:prstGeom>
          <a:noFill/>
          <a:ln/>
        </p:spPr>
        <p:txBody>
          <a:bodyPr wrap="square" lIns="0" tIns="0" rIns="0" bIns="0" rtlCol="0" anchor="t"/>
          <a:lstStyle/>
          <a:p>
            <a:pPr indent="0" marL="0">
              <a:lnSpc>
                <a:spcPts val="3800"/>
              </a:lnSpc>
              <a:buNone/>
            </a:pPr>
            <a:r>
              <a:rPr lang="en-US" sz="3600" b="1" dirty="0">
                <a:solidFill>
                  <a:srgbClr val="17A398"/>
                </a:solidFill>
                <a:latin typeface="Cambria" pitchFamily="34" charset="0"/>
                <a:ea typeface="Cambria" pitchFamily="34" charset="-122"/>
                <a:cs typeface="Cambria" pitchFamily="34" charset="-120"/>
              </a:rPr>
              <a:t>262 L</a:t>
            </a:r>
            <a:endParaRPr lang="en-US" sz="3600" dirty="0"/>
          </a:p>
        </p:txBody>
      </p:sp>
      <p:sp>
        <p:nvSpPr>
          <p:cNvPr id="6" name="Text 4"/>
          <p:cNvSpPr txBox="1"/>
          <p:nvPr/>
        </p:nvSpPr>
        <p:spPr>
          <a:xfrm>
            <a:off x="685800" y="4274820"/>
            <a:ext cx="2513000" cy="286004"/>
          </a:xfrm>
          <a:prstGeom prst="rect">
            <a:avLst/>
          </a:prstGeom>
          <a:noFill/>
          <a:ln/>
        </p:spPr>
        <p:txBody>
          <a:bodyPr wrap="square" lIns="0" tIns="0" rIns="0" bIns="0" rtlCol="0" anchor="t"/>
          <a:lstStyle/>
          <a:p>
            <a:pPr indent="0" marL="0">
              <a:lnSpc>
                <a:spcPts val="1800"/>
              </a:lnSpc>
              <a:buNone/>
            </a:pPr>
            <a:r>
              <a:rPr lang="en-US" sz="1400" dirty="0">
                <a:solidFill>
                  <a:srgbClr val="AFC7D0"/>
                </a:solidFill>
                <a:latin typeface="Calibri" pitchFamily="34" charset="0"/>
                <a:ea typeface="Calibri" pitchFamily="34" charset="-122"/>
                <a:cs typeface="Calibri" pitchFamily="34" charset="-120"/>
              </a:rPr>
              <a:t>average drawn per crew-day</a:t>
            </a:r>
            <a:endParaRPr lang="en-US" sz="1400" dirty="0"/>
          </a:p>
        </p:txBody>
      </p:sp>
      <p:sp>
        <p:nvSpPr>
          <p:cNvPr id="7" name="Text 5"/>
          <p:cNvSpPr txBox="1"/>
          <p:nvPr/>
        </p:nvSpPr>
        <p:spPr>
          <a:xfrm>
            <a:off x="4377842" y="3703320"/>
            <a:ext cx="2513000" cy="534924"/>
          </a:xfrm>
          <a:prstGeom prst="rect">
            <a:avLst/>
          </a:prstGeom>
          <a:noFill/>
          <a:ln/>
        </p:spPr>
        <p:txBody>
          <a:bodyPr wrap="square" lIns="0" tIns="0" rIns="0" bIns="0" rtlCol="0" anchor="t"/>
          <a:lstStyle/>
          <a:p>
            <a:pPr indent="0" marL="0">
              <a:lnSpc>
                <a:spcPts val="3800"/>
              </a:lnSpc>
              <a:buNone/>
            </a:pPr>
            <a:r>
              <a:rPr lang="en-US" sz="3600" b="1" dirty="0">
                <a:solidFill>
                  <a:srgbClr val="17A398"/>
                </a:solidFill>
                <a:latin typeface="Cambria" pitchFamily="34" charset="0"/>
                <a:ea typeface="Cambria" pitchFamily="34" charset="-122"/>
                <a:cs typeface="Cambria" pitchFamily="34" charset="-120"/>
              </a:rPr>
              <a:t>200–350 L</a:t>
            </a:r>
            <a:endParaRPr lang="en-US" sz="3600" dirty="0"/>
          </a:p>
        </p:txBody>
      </p:sp>
      <p:sp>
        <p:nvSpPr>
          <p:cNvPr id="8" name="Text 6"/>
          <p:cNvSpPr txBox="1"/>
          <p:nvPr/>
        </p:nvSpPr>
        <p:spPr>
          <a:xfrm>
            <a:off x="4377842" y="4274820"/>
            <a:ext cx="2513000" cy="517144"/>
          </a:xfrm>
          <a:prstGeom prst="rect">
            <a:avLst/>
          </a:prstGeom>
          <a:noFill/>
          <a:ln/>
        </p:spPr>
        <p:txBody>
          <a:bodyPr wrap="square" lIns="0" tIns="0" rIns="0" bIns="0" rtlCol="0" anchor="t"/>
          <a:lstStyle/>
          <a:p>
            <a:pPr indent="0" marL="0">
              <a:lnSpc>
                <a:spcPts val="1800"/>
              </a:lnSpc>
              <a:buNone/>
            </a:pPr>
            <a:r>
              <a:rPr lang="en-US" sz="1400" dirty="0">
                <a:solidFill>
                  <a:srgbClr val="AFC7D0"/>
                </a:solidFill>
                <a:latin typeface="Calibri" pitchFamily="34" charset="0"/>
                <a:ea typeface="Calibri" pitchFamily="34" charset="-122"/>
                <a:cs typeface="Calibri" pitchFamily="34" charset="-120"/>
              </a:rPr>
              <a:t>tank capacity across the fleet</a:t>
            </a:r>
            <a:endParaRPr lang="en-US" sz="1400" dirty="0"/>
          </a:p>
        </p:txBody>
      </p:sp>
      <p:sp>
        <p:nvSpPr>
          <p:cNvPr id="9" name="Text 7"/>
          <p:cNvSpPr txBox="1"/>
          <p:nvPr/>
        </p:nvSpPr>
        <p:spPr>
          <a:xfrm>
            <a:off x="8069885" y="3703320"/>
            <a:ext cx="3436010" cy="534924"/>
          </a:xfrm>
          <a:prstGeom prst="rect">
            <a:avLst/>
          </a:prstGeom>
          <a:noFill/>
          <a:ln/>
        </p:spPr>
        <p:txBody>
          <a:bodyPr wrap="square" lIns="0" tIns="0" rIns="0" bIns="0" rtlCol="0" anchor="t"/>
          <a:lstStyle/>
          <a:p>
            <a:pPr indent="0" marL="0">
              <a:lnSpc>
                <a:spcPts val="3800"/>
              </a:lnSpc>
              <a:buNone/>
            </a:pPr>
            <a:r>
              <a:rPr lang="en-US" sz="3600" b="1" dirty="0">
                <a:solidFill>
                  <a:srgbClr val="C25332"/>
                </a:solidFill>
                <a:latin typeface="Cambria" pitchFamily="34" charset="0"/>
                <a:ea typeface="Cambria" pitchFamily="34" charset="-122"/>
                <a:cs typeface="Cambria" pitchFamily="34" charset="-120"/>
              </a:rPr>
              <a:t>61%</a:t>
            </a:r>
            <a:endParaRPr lang="en-US" sz="3600" dirty="0"/>
          </a:p>
        </p:txBody>
      </p:sp>
      <p:sp>
        <p:nvSpPr>
          <p:cNvPr id="10" name="Text 8"/>
          <p:cNvSpPr txBox="1"/>
          <p:nvPr/>
        </p:nvSpPr>
        <p:spPr>
          <a:xfrm>
            <a:off x="8069885" y="4274820"/>
            <a:ext cx="3436010" cy="286004"/>
          </a:xfrm>
          <a:prstGeom prst="rect">
            <a:avLst/>
          </a:prstGeom>
          <a:noFill/>
          <a:ln/>
        </p:spPr>
        <p:txBody>
          <a:bodyPr wrap="square" lIns="0" tIns="0" rIns="0" bIns="0" rtlCol="0" anchor="t"/>
          <a:lstStyle/>
          <a:p>
            <a:pPr indent="0" marL="0">
              <a:lnSpc>
                <a:spcPts val="1800"/>
              </a:lnSpc>
              <a:buNone/>
            </a:pPr>
            <a:r>
              <a:rPr lang="en-US" sz="1400" dirty="0">
                <a:solidFill>
                  <a:srgbClr val="AFC7D0"/>
                </a:solidFill>
                <a:latin typeface="Calibri" pitchFamily="34" charset="0"/>
                <a:ea typeface="Calibri" pitchFamily="34" charset="-122"/>
                <a:cs typeface="Calibri" pitchFamily="34" charset="-120"/>
              </a:rPr>
              <a:t>of crew-days exceed the small van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820095" cy="274320"/>
          </a:xfrm>
          <a:prstGeom prst="rect">
            <a:avLst/>
          </a:prstGeom>
          <a:noFill/>
          <a:ln/>
        </p:spPr>
        <p:txBody>
          <a:bodyPr wrap="square" lIns="0" tIns="0" rIns="0" bIns="0" rtlCol="0" anchor="t"/>
          <a:lstStyle/>
          <a:p>
            <a:pPr indent="0" marL="0">
              <a:buNone/>
            </a:pPr>
            <a:r>
              <a:rPr lang="en-US" sz="1400" b="1" spc="200" kern="0" dirty="0">
                <a:solidFill>
                  <a:srgbClr val="17A398"/>
                </a:solidFill>
                <a:latin typeface="Calibri" pitchFamily="34" charset="0"/>
                <a:ea typeface="Calibri" pitchFamily="34" charset="-122"/>
                <a:cs typeface="Calibri" pitchFamily="34" charset="-120"/>
              </a:rPr>
              <a:t>FINDING 1</a:t>
            </a:r>
            <a:endParaRPr lang="en-US" sz="1400" dirty="0"/>
          </a:p>
        </p:txBody>
      </p:sp>
      <p:sp>
        <p:nvSpPr>
          <p:cNvPr id="3" name="Text 1"/>
          <p:cNvSpPr txBox="1"/>
          <p:nvPr/>
        </p:nvSpPr>
        <p:spPr>
          <a:xfrm>
            <a:off x="685800" y="1024128"/>
            <a:ext cx="10820095" cy="868680"/>
          </a:xfrm>
          <a:prstGeom prst="rect">
            <a:avLst/>
          </a:prstGeom>
          <a:noFill/>
          <a:ln/>
        </p:spPr>
        <p:txBody>
          <a:bodyPr wrap="square" lIns="0" tIns="0" rIns="0" bIns="0" rtlCol="0" anchor="t"/>
          <a:lstStyle/>
          <a:p>
            <a:pPr indent="0" marL="0">
              <a:buNone/>
            </a:pPr>
            <a:r>
              <a:rPr lang="en-US" sz="3000" b="1" dirty="0">
                <a:solidFill>
                  <a:srgbClr val="12333F"/>
                </a:solidFill>
                <a:latin typeface="Cambria" pitchFamily="34" charset="0"/>
                <a:ea typeface="Cambria" pitchFamily="34" charset="-122"/>
                <a:cs typeface="Cambria" pitchFamily="34" charset="-120"/>
              </a:rPr>
              <a:t>The service tier tells you nothing</a:t>
            </a:r>
            <a:endParaRPr lang="en-US" sz="3000" dirty="0"/>
          </a:p>
        </p:txBody>
      </p:sp>
      <p:sp>
        <p:nvSpPr>
          <p:cNvPr id="4" name="Text 2"/>
          <p:cNvSpPr txBox="1"/>
          <p:nvPr/>
        </p:nvSpPr>
        <p:spPr>
          <a:xfrm>
            <a:off x="685800" y="2057400"/>
            <a:ext cx="6205042" cy="1007364"/>
          </a:xfrm>
          <a:prstGeom prst="rect">
            <a:avLst/>
          </a:prstGeom>
          <a:noFill/>
          <a:ln/>
        </p:spPr>
        <p:txBody>
          <a:bodyPr wrap="square" lIns="0" tIns="0" rIns="0" bIns="0" rtlCol="0" anchor="t"/>
          <a:lstStyle/>
          <a:p>
            <a:pPr indent="0" marL="0">
              <a:lnSpc>
                <a:spcPts val="2500"/>
              </a:lnSpc>
              <a:buNone/>
            </a:pPr>
            <a:r>
              <a:rPr lang="en-US" sz="1800" dirty="0">
                <a:solidFill>
                  <a:srgbClr val="12333F"/>
                </a:solidFill>
                <a:latin typeface="Calibri" pitchFamily="34" charset="0"/>
                <a:ea typeface="Calibri" pitchFamily="34" charset="-122"/>
                <a:cs typeface="Calibri" pitchFamily="34" charset="-120"/>
              </a:rPr>
              <a:t>All five slot types average 54.9–55.8 L. The variable that actually moves water is an add-on hidden inside a pipe-separated item string.</a:t>
            </a:r>
            <a:endParaRPr lang="en-US" sz="1800" dirty="0"/>
          </a:p>
        </p:txBody>
      </p:sp>
      <p:pic>
        <p:nvPicPr>
          <p:cNvPr id="5" name="Image 0" descr="C:\Users\naman\OneDrive\Documents\doorstep-A07-water-supplies\paper\figures\slot_vs_addon.png">    </p:cNvPr>
          <p:cNvPicPr>
            <a:picLocks noChangeAspect="1"/>
          </p:cNvPicPr>
          <p:nvPr/>
        </p:nvPicPr>
        <p:blipFill>
          <a:blip r:embed="rId1"/>
          <a:srcRect l="0" r="0" t="0" b="0"/>
          <a:stretch/>
        </p:blipFill>
        <p:spPr>
          <a:xfrm>
            <a:off x="685800" y="3265932"/>
            <a:ext cx="6205042" cy="2651760"/>
          </a:xfrm>
          <a:prstGeom prst="rect">
            <a:avLst/>
          </a:prstGeom>
        </p:spPr>
      </p:pic>
      <p:sp>
        <p:nvSpPr>
          <p:cNvPr id="6" name="Shape 3"/>
          <p:cNvSpPr/>
          <p:nvPr/>
        </p:nvSpPr>
        <p:spPr>
          <a:xfrm>
            <a:off x="7146874" y="2057400"/>
            <a:ext cx="4359021" cy="3762248"/>
          </a:xfrm>
          <a:prstGeom prst="roundRect">
            <a:avLst>
              <a:gd name="adj" fmla="val 1458"/>
            </a:avLst>
          </a:prstGeom>
          <a:solidFill>
            <a:srgbClr val="EDF4F6"/>
          </a:solidFill>
          <a:ln w="12700">
            <a:solidFill>
              <a:srgbClr val="EDF4F6"/>
            </a:solidFill>
            <a:prstDash val="solid"/>
          </a:ln>
        </p:spPr>
      </p:sp>
      <p:sp>
        <p:nvSpPr>
          <p:cNvPr id="7" name="Text 4"/>
          <p:cNvSpPr txBox="1"/>
          <p:nvPr/>
        </p:nvSpPr>
        <p:spPr>
          <a:xfrm>
            <a:off x="7421194" y="2331720"/>
            <a:ext cx="3810381" cy="410464"/>
          </a:xfrm>
          <a:prstGeom prst="rect">
            <a:avLst/>
          </a:prstGeom>
          <a:noFill/>
          <a:ln/>
        </p:spPr>
        <p:txBody>
          <a:bodyPr wrap="square" lIns="0" tIns="0" rIns="0" bIns="0" rtlCol="0" anchor="t"/>
          <a:lstStyle/>
          <a:p>
            <a:pPr indent="0" marL="0">
              <a:lnSpc>
                <a:spcPts val="2800"/>
              </a:lnSpc>
              <a:buNone/>
            </a:pPr>
            <a:r>
              <a:rPr lang="en-US" sz="2000" b="1" dirty="0">
                <a:solidFill>
                  <a:srgbClr val="0B6E8C"/>
                </a:solidFill>
                <a:latin typeface="Calibri" pitchFamily="34" charset="0"/>
                <a:ea typeface="Calibri" pitchFamily="34" charset="-122"/>
                <a:cs typeface="Calibri" pitchFamily="34" charset="-120"/>
              </a:rPr>
              <a:t>interior_clean</a:t>
            </a:r>
            <a:endParaRPr lang="en-US" sz="2000" dirty="0"/>
          </a:p>
        </p:txBody>
      </p:sp>
      <p:sp>
        <p:nvSpPr>
          <p:cNvPr id="8" name="Text 5"/>
          <p:cNvSpPr txBox="1"/>
          <p:nvPr/>
        </p:nvSpPr>
        <p:spPr>
          <a:xfrm>
            <a:off x="7421194" y="2925064"/>
            <a:ext cx="3810381" cy="1197864"/>
          </a:xfrm>
          <a:prstGeom prst="rect">
            <a:avLst/>
          </a:prstGeom>
          <a:noFill/>
          <a:ln/>
        </p:spPr>
        <p:txBody>
          <a:bodyPr wrap="square" lIns="0" tIns="0" rIns="0" bIns="0" rtlCol="0" anchor="t"/>
          <a:lstStyle/>
          <a:p>
            <a:pPr indent="0" marL="0">
              <a:lnSpc>
                <a:spcPts val="3000"/>
              </a:lnSpc>
              <a:buNone/>
            </a:pPr>
            <a:r>
              <a:rPr lang="en-US" sz="1800" dirty="0">
                <a:solidFill>
                  <a:srgbClr val="12333F"/>
                </a:solidFill>
                <a:latin typeface="Calibri" pitchFamily="34" charset="0"/>
                <a:ea typeface="Calibri" pitchFamily="34" charset="-122"/>
                <a:cs typeface="Calibri" pitchFamily="34" charset="-120"/>
              </a:rPr>
              <a:t>27.9% of jobs</a:t>
            </a:r>
            <a:endParaRPr lang="en-US" sz="1800" dirty="0"/>
          </a:p>
          <a:p>
            <a:pPr indent="0" marL="0">
              <a:lnSpc>
                <a:spcPts val="3000"/>
              </a:lnSpc>
              <a:buNone/>
            </a:pPr>
            <a:r>
              <a:rPr lang="en-US" sz="1800" dirty="0">
                <a:solidFill>
                  <a:srgbClr val="12333F"/>
                </a:solidFill>
                <a:latin typeface="Calibri" pitchFamily="34" charset="0"/>
                <a:ea typeface="Calibri" pitchFamily="34" charset="-122"/>
                <a:cs typeface="Calibri" pitchFamily="34" charset="-120"/>
              </a:rPr>
              <a:t>+18.0 L per job</a:t>
            </a:r>
            <a:endParaRPr lang="en-US" sz="1800" dirty="0"/>
          </a:p>
          <a:p>
            <a:pPr indent="0" marL="0">
              <a:lnSpc>
                <a:spcPts val="3000"/>
              </a:lnSpc>
              <a:buNone/>
            </a:pPr>
            <a:r>
              <a:rPr lang="en-US" sz="1800" dirty="0">
                <a:solidFill>
                  <a:srgbClr val="12333F"/>
                </a:solidFill>
                <a:latin typeface="Calibri" pitchFamily="34" charset="0"/>
                <a:ea typeface="Calibri" pitchFamily="34" charset="-122"/>
                <a:cs typeface="Calibri" pitchFamily="34" charset="-120"/>
              </a:rPr>
              <a:t>sold across every tier</a:t>
            </a:r>
            <a:endParaRPr lang="en-US" sz="1800" dirty="0"/>
          </a:p>
        </p:txBody>
      </p:sp>
      <p:sp>
        <p:nvSpPr>
          <p:cNvPr id="9" name="Text 6"/>
          <p:cNvSpPr txBox="1"/>
          <p:nvPr/>
        </p:nvSpPr>
        <p:spPr>
          <a:xfrm>
            <a:off x="7421194" y="4324096"/>
            <a:ext cx="3810381" cy="537464"/>
          </a:xfrm>
          <a:prstGeom prst="rect">
            <a:avLst/>
          </a:prstGeom>
          <a:noFill/>
          <a:ln/>
        </p:spPr>
        <p:txBody>
          <a:bodyPr wrap="square" lIns="0" tIns="0" rIns="0" bIns="0" rtlCol="0" anchor="t"/>
          <a:lstStyle/>
          <a:p>
            <a:pPr indent="0" marL="0">
              <a:lnSpc>
                <a:spcPts val="1900"/>
              </a:lnSpc>
              <a:buNone/>
            </a:pPr>
            <a:r>
              <a:rPr lang="en-US" sz="1400" dirty="0">
                <a:solidFill>
                  <a:srgbClr val="68808B"/>
                </a:solidFill>
                <a:latin typeface="Calibri" pitchFamily="34" charset="0"/>
                <a:ea typeface="Calibri" pitchFamily="34" charset="-122"/>
                <a:cs typeface="Calibri" pitchFamily="34" charset="-120"/>
              </a:rPr>
              <a:t>Parsed from bookings.items — not a column of its own</a:t>
            </a:r>
            <a:endParaRPr lang="en-US" sz="1400" dirty="0"/>
          </a:p>
        </p:txBody>
      </p:sp>
      <p:sp>
        <p:nvSpPr>
          <p:cNvPr id="10" name="Text 7"/>
          <p:cNvSpPr txBox="1"/>
          <p:nvPr/>
        </p:nvSpPr>
        <p:spPr>
          <a:xfrm>
            <a:off x="7421194" y="5007864"/>
            <a:ext cx="3810381" cy="537464"/>
          </a:xfrm>
          <a:prstGeom prst="rect">
            <a:avLst/>
          </a:prstGeom>
          <a:noFill/>
          <a:ln/>
        </p:spPr>
        <p:txBody>
          <a:bodyPr wrap="square" lIns="0" tIns="0" rIns="0" bIns="0" rtlCol="0" anchor="t"/>
          <a:lstStyle/>
          <a:p>
            <a:pPr indent="0" marL="0">
              <a:lnSpc>
                <a:spcPts val="1900"/>
              </a:lnSpc>
              <a:buNone/>
            </a:pPr>
            <a:r>
              <a:rPr lang="en-US" sz="1400" dirty="0">
                <a:solidFill>
                  <a:srgbClr val="68808B"/>
                </a:solidFill>
                <a:latin typeface="Calibri" pitchFamily="34" charset="0"/>
                <a:ea typeface="Calibri" pitchFamily="34" charset="-122"/>
                <a:cs typeface="Calibri" pitchFamily="34" charset="-120"/>
              </a:rPr>
              <a:t>Key off slot_type and you miss it entirely.</a:t>
            </a:r>
            <a:endParaRPr lang="en-US" sz="1400" dirty="0"/>
          </a:p>
        </p:txBody>
      </p:sp>
      <p:sp>
        <p:nvSpPr>
          <p:cNvPr id="11" name="Text 8"/>
          <p:cNvSpPr txBox="1"/>
          <p:nvPr/>
        </p:nvSpPr>
        <p:spPr>
          <a:xfrm>
            <a:off x="685800" y="6327648"/>
            <a:ext cx="10820095" cy="237744"/>
          </a:xfrm>
          <a:prstGeom prst="rect">
            <a:avLst/>
          </a:prstGeom>
          <a:noFill/>
          <a:ln/>
        </p:spPr>
        <p:txBody>
          <a:bodyPr wrap="square" lIns="0" tIns="0" rIns="0" bIns="0" rtlCol="0" anchor="t"/>
          <a:lstStyle/>
          <a:p>
            <a:pPr indent="0" marL="0">
              <a:buNone/>
            </a:pPr>
            <a:r>
              <a:rPr lang="en-US" sz="1100" dirty="0">
                <a:solidFill>
                  <a:srgbClr val="68808B"/>
                </a:solidFill>
                <a:latin typeface="Calibri" pitchFamily="34" charset="0"/>
                <a:ea typeface="Calibri" pitchFamily="34" charset="-122"/>
                <a:cs typeface="Calibri" pitchFamily="34" charset="-120"/>
              </a:rPr>
              <a:t>39,302 completed jobs · bookings.items parsed for add-ons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820095" cy="274320"/>
          </a:xfrm>
          <a:prstGeom prst="rect">
            <a:avLst/>
          </a:prstGeom>
          <a:noFill/>
          <a:ln/>
        </p:spPr>
        <p:txBody>
          <a:bodyPr wrap="square" lIns="0" tIns="0" rIns="0" bIns="0" rtlCol="0" anchor="t"/>
          <a:lstStyle/>
          <a:p>
            <a:pPr indent="0" marL="0">
              <a:buNone/>
            </a:pPr>
            <a:r>
              <a:rPr lang="en-US" sz="1400" b="1" spc="200" kern="0" dirty="0">
                <a:solidFill>
                  <a:srgbClr val="17A398"/>
                </a:solidFill>
                <a:latin typeface="Calibri" pitchFamily="34" charset="0"/>
                <a:ea typeface="Calibri" pitchFamily="34" charset="-122"/>
                <a:cs typeface="Calibri" pitchFamily="34" charset="-120"/>
              </a:rPr>
              <a:t>FINDING 2</a:t>
            </a:r>
            <a:endParaRPr lang="en-US" sz="1400" dirty="0"/>
          </a:p>
        </p:txBody>
      </p:sp>
      <p:sp>
        <p:nvSpPr>
          <p:cNvPr id="3" name="Text 1"/>
          <p:cNvSpPr txBox="1"/>
          <p:nvPr/>
        </p:nvSpPr>
        <p:spPr>
          <a:xfrm>
            <a:off x="685800" y="1024128"/>
            <a:ext cx="10820095" cy="868680"/>
          </a:xfrm>
          <a:prstGeom prst="rect">
            <a:avLst/>
          </a:prstGeom>
          <a:noFill/>
          <a:ln/>
        </p:spPr>
        <p:txBody>
          <a:bodyPr wrap="square" lIns="0" tIns="0" rIns="0" bIns="0" rtlCol="0" anchor="t"/>
          <a:lstStyle/>
          <a:p>
            <a:pPr indent="0" marL="0">
              <a:buNone/>
            </a:pPr>
            <a:r>
              <a:rPr lang="en-US" sz="3000" b="1" dirty="0">
                <a:solidFill>
                  <a:srgbClr val="12333F"/>
                </a:solidFill>
                <a:latin typeface="Cambria" pitchFamily="34" charset="0"/>
                <a:ea typeface="Cambria" pitchFamily="34" charset="-122"/>
                <a:cs typeface="Cambria" pitchFamily="34" charset="-120"/>
              </a:rPr>
              <a:t>Dirtiness multiplies, the add-on adds</a:t>
            </a:r>
            <a:endParaRPr lang="en-US" sz="3000" dirty="0"/>
          </a:p>
        </p:txBody>
      </p:sp>
      <p:pic>
        <p:nvPicPr>
          <p:cNvPr id="4" name="Image 0" descr="C:\Users\naman\OneDrive\Documents\doorstep-A07-water-supplies\paper\figures\functional_form.png">    </p:cNvPr>
          <p:cNvPicPr>
            <a:picLocks noChangeAspect="1"/>
          </p:cNvPicPr>
          <p:nvPr/>
        </p:nvPicPr>
        <p:blipFill>
          <a:blip r:embed="rId1"/>
          <a:srcRect l="0" r="0" t="0" b="0"/>
          <a:stretch/>
        </p:blipFill>
        <p:spPr>
          <a:xfrm>
            <a:off x="685800" y="2057400"/>
            <a:ext cx="6205042" cy="3840480"/>
          </a:xfrm>
          <a:prstGeom prst="rect">
            <a:avLst/>
          </a:prstGeom>
        </p:spPr>
      </p:pic>
      <p:sp>
        <p:nvSpPr>
          <p:cNvPr id="5" name="Text 2"/>
          <p:cNvSpPr txBox="1"/>
          <p:nvPr/>
        </p:nvSpPr>
        <p:spPr>
          <a:xfrm>
            <a:off x="7146874" y="2057400"/>
            <a:ext cx="4359021" cy="689864"/>
          </a:xfrm>
          <a:prstGeom prst="rect">
            <a:avLst/>
          </a:prstGeom>
          <a:noFill/>
          <a:ln/>
        </p:spPr>
        <p:txBody>
          <a:bodyPr wrap="square" lIns="0" tIns="0" rIns="0" bIns="0" rtlCol="0" anchor="t"/>
          <a:lstStyle/>
          <a:p>
            <a:pPr indent="0" marL="0">
              <a:lnSpc>
                <a:spcPts val="2500"/>
              </a:lnSpc>
              <a:buNone/>
            </a:pPr>
            <a:r>
              <a:rPr lang="en-US" sz="1800" dirty="0">
                <a:solidFill>
                  <a:srgbClr val="12333F"/>
                </a:solidFill>
                <a:latin typeface="Calibri" pitchFamily="34" charset="0"/>
                <a:ea typeface="Calibri" pitchFamily="34" charset="-122"/>
                <a:cs typeface="Calibri" pitchFamily="34" charset="-120"/>
              </a:rPr>
              <a:t>Dirtiness scales the vehicle-size base by identical factors:</a:t>
            </a:r>
            <a:endParaRPr lang="en-US" sz="1800" dirty="0"/>
          </a:p>
        </p:txBody>
      </p:sp>
      <p:sp>
        <p:nvSpPr>
          <p:cNvPr id="6" name="Text 3"/>
          <p:cNvSpPr txBox="1"/>
          <p:nvPr/>
        </p:nvSpPr>
        <p:spPr>
          <a:xfrm>
            <a:off x="7146874" y="2911856"/>
            <a:ext cx="4359021" cy="473964"/>
          </a:xfrm>
          <a:prstGeom prst="rect">
            <a:avLst/>
          </a:prstGeom>
          <a:noFill/>
          <a:ln/>
        </p:spPr>
        <p:txBody>
          <a:bodyPr wrap="square" lIns="0" tIns="0" rIns="0" bIns="0" rtlCol="0" anchor="t"/>
          <a:lstStyle/>
          <a:p>
            <a:pPr indent="0" marL="0">
              <a:lnSpc>
                <a:spcPts val="3300"/>
              </a:lnSpc>
              <a:buNone/>
            </a:pPr>
            <a:r>
              <a:rPr lang="en-US" sz="2400" b="1" dirty="0">
                <a:solidFill>
                  <a:srgbClr val="0B6E8C"/>
                </a:solidFill>
                <a:latin typeface="Cambria" pitchFamily="34" charset="0"/>
                <a:ea typeface="Cambria" pitchFamily="34" charset="-122"/>
                <a:cs typeface="Cambria" pitchFamily="34" charset="-120"/>
              </a:rPr>
              <a:t>1.00 · 1.18 · 1.35 · 1.53</a:t>
            </a:r>
            <a:endParaRPr lang="en-US" sz="2400" dirty="0"/>
          </a:p>
        </p:txBody>
      </p:sp>
      <p:sp>
        <p:nvSpPr>
          <p:cNvPr id="7" name="Text 4"/>
          <p:cNvSpPr txBox="1"/>
          <p:nvPr/>
        </p:nvSpPr>
        <p:spPr>
          <a:xfrm>
            <a:off x="7146874" y="3641852"/>
            <a:ext cx="4359021" cy="689864"/>
          </a:xfrm>
          <a:prstGeom prst="rect">
            <a:avLst/>
          </a:prstGeom>
          <a:noFill/>
          <a:ln/>
        </p:spPr>
        <p:txBody>
          <a:bodyPr wrap="square" lIns="0" tIns="0" rIns="0" bIns="0" rtlCol="0" anchor="t"/>
          <a:lstStyle/>
          <a:p>
            <a:pPr indent="0" marL="0">
              <a:lnSpc>
                <a:spcPts val="2500"/>
              </a:lnSpc>
              <a:buNone/>
            </a:pPr>
            <a:r>
              <a:rPr lang="en-US" sz="1800" dirty="0">
                <a:solidFill>
                  <a:srgbClr val="12333F"/>
                </a:solidFill>
                <a:latin typeface="Calibri" pitchFamily="34" charset="0"/>
                <a:ea typeface="Calibri" pitchFamily="34" charset="-122"/>
                <a:cs typeface="Calibri" pitchFamily="34" charset="-120"/>
              </a:rPr>
              <a:t>The interior add-on adds a flat +18 L, whatever the size or dirt.</a:t>
            </a:r>
            <a:endParaRPr lang="en-US" sz="1800" dirty="0"/>
          </a:p>
        </p:txBody>
      </p:sp>
      <p:sp>
        <p:nvSpPr>
          <p:cNvPr id="8" name="Shape 5"/>
          <p:cNvSpPr/>
          <p:nvPr/>
        </p:nvSpPr>
        <p:spPr>
          <a:xfrm>
            <a:off x="7146874" y="4606036"/>
            <a:ext cx="4359021" cy="1238504"/>
          </a:xfrm>
          <a:prstGeom prst="roundRect">
            <a:avLst>
              <a:gd name="adj" fmla="val 4430"/>
            </a:avLst>
          </a:prstGeom>
          <a:solidFill>
            <a:srgbClr val="EDF4F6"/>
          </a:solidFill>
          <a:ln w="12700">
            <a:solidFill>
              <a:srgbClr val="EDF4F6"/>
            </a:solidFill>
            <a:prstDash val="solid"/>
          </a:ln>
        </p:spPr>
      </p:sp>
      <p:sp>
        <p:nvSpPr>
          <p:cNvPr id="9" name="Text 6"/>
          <p:cNvSpPr txBox="1"/>
          <p:nvPr/>
        </p:nvSpPr>
        <p:spPr>
          <a:xfrm>
            <a:off x="7421194" y="4880356"/>
            <a:ext cx="3810381" cy="689864"/>
          </a:xfrm>
          <a:prstGeom prst="rect">
            <a:avLst/>
          </a:prstGeom>
          <a:noFill/>
          <a:ln/>
        </p:spPr>
        <p:txBody>
          <a:bodyPr wrap="square" lIns="0" tIns="0" rIns="0" bIns="0" rtlCol="0" anchor="t"/>
          <a:lstStyle/>
          <a:p>
            <a:pPr indent="0" marL="0">
              <a:lnSpc>
                <a:spcPts val="2500"/>
              </a:lnSpc>
              <a:buNone/>
            </a:pPr>
            <a:r>
              <a:rPr lang="en-US" sz="1800" b="1" dirty="0">
                <a:solidFill>
                  <a:srgbClr val="0B6E8C"/>
                </a:solidFill>
                <a:latin typeface="Calibri" pitchFamily="34" charset="0"/>
                <a:ea typeface="Calibri" pitchFamily="34" charset="-122"/>
                <a:cs typeface="Calibri" pitchFamily="34" charset="-120"/>
              </a:rPr>
              <a:t>An additive model is the wrong shape — it needs the interaction.</a:t>
            </a:r>
            <a:endParaRPr lang="en-US" sz="1800" dirty="0"/>
          </a:p>
        </p:txBody>
      </p:sp>
      <p:sp>
        <p:nvSpPr>
          <p:cNvPr id="10" name="Text 7"/>
          <p:cNvSpPr txBox="1"/>
          <p:nvPr/>
        </p:nvSpPr>
        <p:spPr>
          <a:xfrm>
            <a:off x="685800" y="6327648"/>
            <a:ext cx="10820095" cy="237744"/>
          </a:xfrm>
          <a:prstGeom prst="rect">
            <a:avLst/>
          </a:prstGeom>
          <a:noFill/>
          <a:ln/>
        </p:spPr>
        <p:txBody>
          <a:bodyPr wrap="square" lIns="0" tIns="0" rIns="0" bIns="0" rtlCol="0" anchor="t"/>
          <a:lstStyle/>
          <a:p>
            <a:pPr indent="0" marL="0">
              <a:buNone/>
            </a:pPr>
            <a:r>
              <a:rPr lang="en-US" sz="1100" dirty="0">
                <a:solidFill>
                  <a:srgbClr val="68808B"/>
                </a:solidFill>
                <a:latin typeface="Calibri" pitchFamily="34" charset="0"/>
                <a:ea typeface="Calibri" pitchFamily="34" charset="-122"/>
                <a:cs typeface="Calibri" pitchFamily="34" charset="-120"/>
              </a:rPr>
              <a:t>Exterior-only jobs · mean litres per cell</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820095" cy="274320"/>
          </a:xfrm>
          <a:prstGeom prst="rect">
            <a:avLst/>
          </a:prstGeom>
          <a:noFill/>
          <a:ln/>
        </p:spPr>
        <p:txBody>
          <a:bodyPr wrap="square" lIns="0" tIns="0" rIns="0" bIns="0" rtlCol="0" anchor="t"/>
          <a:lstStyle/>
          <a:p>
            <a:pPr indent="0" marL="0">
              <a:buNone/>
            </a:pPr>
            <a:r>
              <a:rPr lang="en-US" sz="1400" b="1" spc="200" kern="0" dirty="0">
                <a:solidFill>
                  <a:srgbClr val="17A398"/>
                </a:solidFill>
                <a:latin typeface="Calibri" pitchFamily="34" charset="0"/>
                <a:ea typeface="Calibri" pitchFamily="34" charset="-122"/>
                <a:cs typeface="Calibri" pitchFamily="34" charset="-120"/>
              </a:rPr>
              <a:t>THE DESIGN DECISION</a:t>
            </a:r>
            <a:endParaRPr lang="en-US" sz="1400" dirty="0"/>
          </a:p>
        </p:txBody>
      </p:sp>
      <p:sp>
        <p:nvSpPr>
          <p:cNvPr id="3" name="Text 1"/>
          <p:cNvSpPr txBox="1"/>
          <p:nvPr/>
        </p:nvSpPr>
        <p:spPr>
          <a:xfrm>
            <a:off x="685800" y="1024128"/>
            <a:ext cx="10820095" cy="868680"/>
          </a:xfrm>
          <a:prstGeom prst="rect">
            <a:avLst/>
          </a:prstGeom>
          <a:noFill/>
          <a:ln/>
        </p:spPr>
        <p:txBody>
          <a:bodyPr wrap="square" lIns="0" tIns="0" rIns="0" bIns="0" rtlCol="0" anchor="t"/>
          <a:lstStyle/>
          <a:p>
            <a:pPr indent="0" marL="0">
              <a:buNone/>
            </a:pPr>
            <a:r>
              <a:rPr lang="en-US" sz="3000" b="1" dirty="0">
                <a:solidFill>
                  <a:srgbClr val="12333F"/>
                </a:solidFill>
                <a:latin typeface="Cambria" pitchFamily="34" charset="0"/>
                <a:ea typeface="Cambria" pitchFamily="34" charset="-122"/>
                <a:cs typeface="Cambria" pitchFamily="34" charset="-120"/>
              </a:rPr>
              <a:t>The best predictor arrives too late</a:t>
            </a:r>
            <a:endParaRPr lang="en-US" sz="3000" dirty="0"/>
          </a:p>
        </p:txBody>
      </p:sp>
      <p:sp>
        <p:nvSpPr>
          <p:cNvPr id="4" name="Text 2"/>
          <p:cNvSpPr txBox="1"/>
          <p:nvPr/>
        </p:nvSpPr>
        <p:spPr>
          <a:xfrm>
            <a:off x="685800" y="2057400"/>
            <a:ext cx="10820095" cy="689864"/>
          </a:xfrm>
          <a:prstGeom prst="rect">
            <a:avLst/>
          </a:prstGeom>
          <a:noFill/>
          <a:ln/>
        </p:spPr>
        <p:txBody>
          <a:bodyPr wrap="square" lIns="0" tIns="0" rIns="0" bIns="0" rtlCol="0" anchor="t"/>
          <a:lstStyle/>
          <a:p>
            <a:pPr indent="0" marL="0">
              <a:lnSpc>
                <a:spcPts val="2500"/>
              </a:lnSpc>
              <a:buNone/>
            </a:pPr>
            <a:r>
              <a:rPr lang="en-US" sz="1800" dirty="0">
                <a:solidFill>
                  <a:srgbClr val="12333F"/>
                </a:solidFill>
                <a:latin typeface="Calibri" pitchFamily="34" charset="0"/>
                <a:ea typeface="Calibri" pitchFamily="34" charset="-122"/>
                <a:cs typeface="Calibri" pitchFamily="34" charset="-120"/>
              </a:rPr>
              <a:t>dirtiness_level is recorded when the crew reaches the car. Nothing at booking time predicts it — not rain, not temperature, not the customer's history.</a:t>
            </a:r>
            <a:endParaRPr lang="en-US" sz="1800" dirty="0"/>
          </a:p>
        </p:txBody>
      </p:sp>
      <p:sp>
        <p:nvSpPr>
          <p:cNvPr id="5" name="Shape 3"/>
          <p:cNvSpPr/>
          <p:nvPr/>
        </p:nvSpPr>
        <p:spPr>
          <a:xfrm>
            <a:off x="685800" y="2880360"/>
            <a:ext cx="5282032" cy="2678684"/>
          </a:xfrm>
          <a:prstGeom prst="roundRect">
            <a:avLst>
              <a:gd name="adj" fmla="val 2048"/>
            </a:avLst>
          </a:prstGeom>
          <a:solidFill>
            <a:srgbClr val="EDF4F6"/>
          </a:solidFill>
          <a:ln w="12700">
            <a:solidFill>
              <a:srgbClr val="EDF4F6"/>
            </a:solidFill>
            <a:prstDash val="solid"/>
          </a:ln>
        </p:spPr>
      </p:sp>
      <p:sp>
        <p:nvSpPr>
          <p:cNvPr id="6" name="Text 4"/>
          <p:cNvSpPr txBox="1"/>
          <p:nvPr/>
        </p:nvSpPr>
        <p:spPr>
          <a:xfrm>
            <a:off x="960120" y="3154680"/>
            <a:ext cx="4733392" cy="296164"/>
          </a:xfrm>
          <a:prstGeom prst="rect">
            <a:avLst/>
          </a:prstGeom>
          <a:noFill/>
          <a:ln/>
        </p:spPr>
        <p:txBody>
          <a:bodyPr wrap="square" lIns="0" tIns="0" rIns="0" bIns="0" rtlCol="0" anchor="t"/>
          <a:lstStyle/>
          <a:p>
            <a:pPr indent="0" marL="0">
              <a:lnSpc>
                <a:spcPts val="1900"/>
              </a:lnSpc>
              <a:buNone/>
            </a:pPr>
            <a:r>
              <a:rPr lang="en-US" sz="1400" b="1" spc="200" kern="0" dirty="0">
                <a:solidFill>
                  <a:srgbClr val="0B6E8C"/>
                </a:solidFill>
                <a:latin typeface="Calibri" pitchFamily="34" charset="0"/>
                <a:ea typeface="Calibri" pitchFamily="34" charset="-122"/>
                <a:cs typeface="Calibri" pitchFamily="34" charset="-120"/>
              </a:rPr>
              <a:t>PLANNING MODEL</a:t>
            </a:r>
            <a:endParaRPr lang="en-US" sz="1400" dirty="0"/>
          </a:p>
        </p:txBody>
      </p:sp>
      <p:sp>
        <p:nvSpPr>
          <p:cNvPr id="7" name="Text 5"/>
          <p:cNvSpPr txBox="1"/>
          <p:nvPr/>
        </p:nvSpPr>
        <p:spPr>
          <a:xfrm>
            <a:off x="960120" y="3615436"/>
            <a:ext cx="4733392" cy="372364"/>
          </a:xfrm>
          <a:prstGeom prst="rect">
            <a:avLst/>
          </a:prstGeom>
          <a:noFill/>
          <a:ln/>
        </p:spPr>
        <p:txBody>
          <a:bodyPr wrap="square" lIns="0" tIns="0" rIns="0" bIns="0" rtlCol="0" anchor="t"/>
          <a:lstStyle/>
          <a:p>
            <a:pPr indent="0" marL="0">
              <a:lnSpc>
                <a:spcPts val="2500"/>
              </a:lnSpc>
              <a:buNone/>
            </a:pPr>
            <a:r>
              <a:rPr lang="en-US" sz="1800" dirty="0">
                <a:solidFill>
                  <a:srgbClr val="12333F"/>
                </a:solidFill>
                <a:latin typeface="Calibri" pitchFamily="34" charset="0"/>
                <a:ea typeface="Calibri" pitchFamily="34" charset="-122"/>
                <a:cs typeface="Calibri" pitchFamily="34" charset="-120"/>
              </a:rPr>
              <a:t>vehicle size + interior_clean</a:t>
            </a:r>
            <a:endParaRPr lang="en-US" sz="1800" dirty="0"/>
          </a:p>
        </p:txBody>
      </p:sp>
      <p:sp>
        <p:nvSpPr>
          <p:cNvPr id="8" name="Text 6"/>
          <p:cNvSpPr txBox="1"/>
          <p:nvPr/>
        </p:nvSpPr>
        <p:spPr>
          <a:xfrm>
            <a:off x="960120" y="4188968"/>
            <a:ext cx="4733392" cy="689864"/>
          </a:xfrm>
          <a:prstGeom prst="rect">
            <a:avLst/>
          </a:prstGeom>
          <a:noFill/>
          <a:ln/>
        </p:spPr>
        <p:txBody>
          <a:bodyPr wrap="square" lIns="0" tIns="0" rIns="0" bIns="0" rtlCol="0" anchor="t"/>
          <a:lstStyle/>
          <a:p>
            <a:pPr indent="0" marL="0">
              <a:lnSpc>
                <a:spcPts val="5000"/>
              </a:lnSpc>
              <a:buNone/>
            </a:pPr>
            <a:r>
              <a:rPr lang="en-US" sz="3600" b="1" dirty="0">
                <a:solidFill>
                  <a:srgbClr val="0B6E8C"/>
                </a:solidFill>
                <a:latin typeface="Cambria" pitchFamily="34" charset="0"/>
                <a:ea typeface="Cambria" pitchFamily="34" charset="-122"/>
                <a:cs typeface="Cambria" pitchFamily="34" charset="-120"/>
              </a:rPr>
              <a:t>5.90 L</a:t>
            </a:r>
            <a:endParaRPr lang="en-US" sz="3600" dirty="0"/>
          </a:p>
        </p:txBody>
      </p:sp>
      <p:sp>
        <p:nvSpPr>
          <p:cNvPr id="9" name="Text 7"/>
          <p:cNvSpPr txBox="1"/>
          <p:nvPr/>
        </p:nvSpPr>
        <p:spPr>
          <a:xfrm>
            <a:off x="960120" y="4988560"/>
            <a:ext cx="4733392" cy="296164"/>
          </a:xfrm>
          <a:prstGeom prst="rect">
            <a:avLst/>
          </a:prstGeom>
          <a:noFill/>
          <a:ln/>
        </p:spPr>
        <p:txBody>
          <a:bodyPr wrap="square" lIns="0" tIns="0" rIns="0" bIns="0" rtlCol="0" anchor="t"/>
          <a:lstStyle/>
          <a:p>
            <a:pPr indent="0" marL="0">
              <a:lnSpc>
                <a:spcPts val="1900"/>
              </a:lnSpc>
              <a:buNone/>
            </a:pPr>
            <a:r>
              <a:rPr lang="en-US" sz="1400" dirty="0">
                <a:solidFill>
                  <a:srgbClr val="68808B"/>
                </a:solidFill>
                <a:latin typeface="Calibri" pitchFamily="34" charset="0"/>
                <a:ea typeface="Calibri" pitchFamily="34" charset="-122"/>
                <a:cs typeface="Calibri" pitchFamily="34" charset="-120"/>
              </a:rPr>
              <a:t>mean absolute error — routing, scheduling and quoting</a:t>
            </a:r>
            <a:endParaRPr lang="en-US" sz="1400" dirty="0"/>
          </a:p>
        </p:txBody>
      </p:sp>
      <p:sp>
        <p:nvSpPr>
          <p:cNvPr id="10" name="Shape 8"/>
          <p:cNvSpPr/>
          <p:nvPr/>
        </p:nvSpPr>
        <p:spPr>
          <a:xfrm>
            <a:off x="6223864" y="2880360"/>
            <a:ext cx="5282032" cy="2678684"/>
          </a:xfrm>
          <a:prstGeom prst="roundRect">
            <a:avLst>
              <a:gd name="adj" fmla="val 2048"/>
            </a:avLst>
          </a:prstGeom>
          <a:solidFill>
            <a:srgbClr val="EDF4F6"/>
          </a:solidFill>
          <a:ln w="12700">
            <a:solidFill>
              <a:srgbClr val="EDF4F6"/>
            </a:solidFill>
            <a:prstDash val="solid"/>
          </a:ln>
        </p:spPr>
      </p:sp>
      <p:sp>
        <p:nvSpPr>
          <p:cNvPr id="11" name="Text 9"/>
          <p:cNvSpPr txBox="1"/>
          <p:nvPr/>
        </p:nvSpPr>
        <p:spPr>
          <a:xfrm>
            <a:off x="6498184" y="3154680"/>
            <a:ext cx="4733392" cy="296164"/>
          </a:xfrm>
          <a:prstGeom prst="rect">
            <a:avLst/>
          </a:prstGeom>
          <a:noFill/>
          <a:ln/>
        </p:spPr>
        <p:txBody>
          <a:bodyPr wrap="square" lIns="0" tIns="0" rIns="0" bIns="0" rtlCol="0" anchor="t"/>
          <a:lstStyle/>
          <a:p>
            <a:pPr indent="0" marL="0">
              <a:lnSpc>
                <a:spcPts val="1900"/>
              </a:lnSpc>
              <a:buNone/>
            </a:pPr>
            <a:r>
              <a:rPr lang="en-US" sz="1400" b="1" spc="200" kern="0" dirty="0">
                <a:solidFill>
                  <a:srgbClr val="17A398"/>
                </a:solidFill>
                <a:latin typeface="Calibri" pitchFamily="34" charset="0"/>
                <a:ea typeface="Calibri" pitchFamily="34" charset="-122"/>
                <a:cs typeface="Calibri" pitchFamily="34" charset="-120"/>
              </a:rPr>
              <a:t>ON-SITE MODEL</a:t>
            </a:r>
            <a:endParaRPr lang="en-US" sz="1400" dirty="0"/>
          </a:p>
        </p:txBody>
      </p:sp>
      <p:sp>
        <p:nvSpPr>
          <p:cNvPr id="12" name="Text 10"/>
          <p:cNvSpPr txBox="1"/>
          <p:nvPr/>
        </p:nvSpPr>
        <p:spPr>
          <a:xfrm>
            <a:off x="6498184" y="3615436"/>
            <a:ext cx="4733392" cy="372364"/>
          </a:xfrm>
          <a:prstGeom prst="rect">
            <a:avLst/>
          </a:prstGeom>
          <a:noFill/>
          <a:ln/>
        </p:spPr>
        <p:txBody>
          <a:bodyPr wrap="square" lIns="0" tIns="0" rIns="0" bIns="0" rtlCol="0" anchor="t"/>
          <a:lstStyle/>
          <a:p>
            <a:pPr indent="0" marL="0">
              <a:lnSpc>
                <a:spcPts val="2500"/>
              </a:lnSpc>
              <a:buNone/>
            </a:pPr>
            <a:r>
              <a:rPr lang="en-US" sz="1800" dirty="0">
                <a:solidFill>
                  <a:srgbClr val="12333F"/>
                </a:solidFill>
                <a:latin typeface="Calibri" pitchFamily="34" charset="0"/>
                <a:ea typeface="Calibri" pitchFamily="34" charset="-122"/>
                <a:cs typeface="Calibri" pitchFamily="34" charset="-120"/>
              </a:rPr>
              <a:t>adds dirtiness and its interaction</a:t>
            </a:r>
            <a:endParaRPr lang="en-US" sz="1800" dirty="0"/>
          </a:p>
        </p:txBody>
      </p:sp>
      <p:sp>
        <p:nvSpPr>
          <p:cNvPr id="13" name="Text 11"/>
          <p:cNvSpPr txBox="1"/>
          <p:nvPr/>
        </p:nvSpPr>
        <p:spPr>
          <a:xfrm>
            <a:off x="6498184" y="4188968"/>
            <a:ext cx="4733392" cy="689864"/>
          </a:xfrm>
          <a:prstGeom prst="rect">
            <a:avLst/>
          </a:prstGeom>
          <a:noFill/>
          <a:ln/>
        </p:spPr>
        <p:txBody>
          <a:bodyPr wrap="square" lIns="0" tIns="0" rIns="0" bIns="0" rtlCol="0" anchor="t"/>
          <a:lstStyle/>
          <a:p>
            <a:pPr indent="0" marL="0">
              <a:lnSpc>
                <a:spcPts val="5000"/>
              </a:lnSpc>
              <a:buNone/>
            </a:pPr>
            <a:r>
              <a:rPr lang="en-US" sz="3600" b="1" dirty="0">
                <a:solidFill>
                  <a:srgbClr val="17A398"/>
                </a:solidFill>
                <a:latin typeface="Cambria" pitchFamily="34" charset="0"/>
                <a:ea typeface="Cambria" pitchFamily="34" charset="-122"/>
                <a:cs typeface="Cambria" pitchFamily="34" charset="-120"/>
              </a:rPr>
              <a:t>2.40 L</a:t>
            </a:r>
            <a:endParaRPr lang="en-US" sz="3600" dirty="0"/>
          </a:p>
        </p:txBody>
      </p:sp>
      <p:sp>
        <p:nvSpPr>
          <p:cNvPr id="14" name="Text 12"/>
          <p:cNvSpPr txBox="1"/>
          <p:nvPr/>
        </p:nvSpPr>
        <p:spPr>
          <a:xfrm>
            <a:off x="6498184" y="4988560"/>
            <a:ext cx="4733392" cy="296164"/>
          </a:xfrm>
          <a:prstGeom prst="rect">
            <a:avLst/>
          </a:prstGeom>
          <a:noFill/>
          <a:ln/>
        </p:spPr>
        <p:txBody>
          <a:bodyPr wrap="square" lIns="0" tIns="0" rIns="0" bIns="0" rtlCol="0" anchor="t"/>
          <a:lstStyle/>
          <a:p>
            <a:pPr indent="0" marL="0">
              <a:lnSpc>
                <a:spcPts val="1900"/>
              </a:lnSpc>
              <a:buNone/>
            </a:pPr>
            <a:r>
              <a:rPr lang="en-US" sz="1400" dirty="0">
                <a:solidFill>
                  <a:srgbClr val="68808B"/>
                </a:solidFill>
                <a:latin typeface="Calibri" pitchFamily="34" charset="0"/>
                <a:ea typeface="Calibri" pitchFamily="34" charset="-122"/>
                <a:cs typeface="Calibri" pitchFamily="34" charset="-120"/>
              </a:rPr>
              <a:t>mean absolute error — once the crew has seen the car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820095" cy="274320"/>
          </a:xfrm>
          <a:prstGeom prst="rect">
            <a:avLst/>
          </a:prstGeom>
          <a:noFill/>
          <a:ln/>
        </p:spPr>
        <p:txBody>
          <a:bodyPr wrap="square" lIns="0" tIns="0" rIns="0" bIns="0" rtlCol="0" anchor="t"/>
          <a:lstStyle/>
          <a:p>
            <a:pPr indent="0" marL="0">
              <a:buNone/>
            </a:pPr>
            <a:r>
              <a:rPr lang="en-US" sz="1400" b="1" spc="200" kern="0" dirty="0">
                <a:solidFill>
                  <a:srgbClr val="17A398"/>
                </a:solidFill>
                <a:latin typeface="Calibri" pitchFamily="34" charset="0"/>
                <a:ea typeface="Calibri" pitchFamily="34" charset="-122"/>
                <a:cs typeface="Calibri" pitchFamily="34" charset="-120"/>
              </a:rPr>
              <a:t>RESULTS</a:t>
            </a:r>
            <a:endParaRPr lang="en-US" sz="1400" dirty="0"/>
          </a:p>
        </p:txBody>
      </p:sp>
      <p:sp>
        <p:nvSpPr>
          <p:cNvPr id="3" name="Text 1"/>
          <p:cNvSpPr txBox="1"/>
          <p:nvPr/>
        </p:nvSpPr>
        <p:spPr>
          <a:xfrm>
            <a:off x="685800" y="1024128"/>
            <a:ext cx="10820095" cy="868680"/>
          </a:xfrm>
          <a:prstGeom prst="rect">
            <a:avLst/>
          </a:prstGeom>
          <a:noFill/>
          <a:ln/>
        </p:spPr>
        <p:txBody>
          <a:bodyPr wrap="square" lIns="0" tIns="0" rIns="0" bIns="0" rtlCol="0" anchor="t"/>
          <a:lstStyle/>
          <a:p>
            <a:pPr indent="0" marL="0">
              <a:buNone/>
            </a:pPr>
            <a:r>
              <a:rPr lang="en-US" sz="3000" b="1" dirty="0">
                <a:solidFill>
                  <a:srgbClr val="12333F"/>
                </a:solidFill>
                <a:latin typeface="Cambria" pitchFamily="34" charset="0"/>
                <a:ea typeface="Cambria" pitchFamily="34" charset="-122"/>
                <a:cs typeface="Cambria" pitchFamily="34" charset="-120"/>
              </a:rPr>
              <a:t>Halved, then halved again</a:t>
            </a:r>
            <a:endParaRPr lang="en-US" sz="3000" dirty="0"/>
          </a:p>
        </p:txBody>
      </p:sp>
      <p:graphicFrame>
        <p:nvGraphicFramePr>
          <p:cNvPr id="4" name="Chart 0" descr=""/>
          <p:cNvGraphicFramePr/>
          <p:nvPr/>
        </p:nvGraphicFramePr>
        <p:xfrm>
          <a:off x="685800" y="2057400"/>
          <a:ext cx="6205042" cy="37490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146874" y="2057400"/>
            <a:ext cx="4359021" cy="1007364"/>
          </a:xfrm>
          <a:prstGeom prst="rect">
            <a:avLst/>
          </a:prstGeom>
          <a:noFill/>
          <a:ln/>
        </p:spPr>
        <p:txBody>
          <a:bodyPr wrap="square" lIns="0" tIns="0" rIns="0" bIns="0" rtlCol="0" anchor="t"/>
          <a:lstStyle/>
          <a:p>
            <a:pPr indent="0" marL="0">
              <a:lnSpc>
                <a:spcPts val="2500"/>
              </a:lnSpc>
              <a:buNone/>
            </a:pPr>
            <a:r>
              <a:rPr lang="en-US" sz="1800" dirty="0">
                <a:solidFill>
                  <a:srgbClr val="12333F"/>
                </a:solidFill>
                <a:latin typeface="Calibri" pitchFamily="34" charset="0"/>
                <a:ea typeface="Calibri" pitchFamily="34" charset="-122"/>
                <a:cs typeface="Calibri" pitchFamily="34" charset="-120"/>
              </a:rPr>
              <a:t>Guessing the mean costs 11.15 L. Booking-time halves it; knowing the dirt halves it again.</a:t>
            </a:r>
            <a:endParaRPr lang="en-US" sz="1800" dirty="0"/>
          </a:p>
        </p:txBody>
      </p:sp>
      <p:sp>
        <p:nvSpPr>
          <p:cNvPr id="6" name="Shape 3"/>
          <p:cNvSpPr/>
          <p:nvPr/>
        </p:nvSpPr>
        <p:spPr>
          <a:xfrm>
            <a:off x="7146874" y="3339084"/>
            <a:ext cx="4359021" cy="2181860"/>
          </a:xfrm>
          <a:prstGeom prst="roundRect">
            <a:avLst>
              <a:gd name="adj" fmla="val 2515"/>
            </a:avLst>
          </a:prstGeom>
          <a:solidFill>
            <a:srgbClr val="EDF4F6"/>
          </a:solidFill>
          <a:ln w="12700">
            <a:solidFill>
              <a:srgbClr val="EDF4F6"/>
            </a:solidFill>
            <a:prstDash val="solid"/>
          </a:ln>
        </p:spPr>
      </p:sp>
      <p:sp>
        <p:nvSpPr>
          <p:cNvPr id="7" name="Text 4"/>
          <p:cNvSpPr txBox="1"/>
          <p:nvPr/>
        </p:nvSpPr>
        <p:spPr>
          <a:xfrm>
            <a:off x="7421194" y="3613404"/>
            <a:ext cx="3810381" cy="689864"/>
          </a:xfrm>
          <a:prstGeom prst="rect">
            <a:avLst/>
          </a:prstGeom>
          <a:noFill/>
          <a:ln/>
        </p:spPr>
        <p:txBody>
          <a:bodyPr wrap="square" lIns="0" tIns="0" rIns="0" bIns="0" rtlCol="0" anchor="t"/>
          <a:lstStyle/>
          <a:p>
            <a:pPr indent="0" marL="0">
              <a:lnSpc>
                <a:spcPts val="2500"/>
              </a:lnSpc>
              <a:buNone/>
            </a:pPr>
            <a:r>
              <a:rPr lang="en-US" sz="1800" b="1" dirty="0">
                <a:solidFill>
                  <a:srgbClr val="12333F"/>
                </a:solidFill>
                <a:latin typeface="Calibri" pitchFamily="34" charset="0"/>
                <a:ea typeface="Calibri" pitchFamily="34" charset="-122"/>
                <a:cs typeface="Calibri" pitchFamily="34" charset="-120"/>
              </a:rPr>
              <a:t>Every figure is the mean of ten seeds.</a:t>
            </a:r>
            <a:endParaRPr lang="en-US" sz="1800" dirty="0"/>
          </a:p>
        </p:txBody>
      </p:sp>
      <p:sp>
        <p:nvSpPr>
          <p:cNvPr id="8" name="Text 5"/>
          <p:cNvSpPr txBox="1"/>
          <p:nvPr/>
        </p:nvSpPr>
        <p:spPr>
          <a:xfrm>
            <a:off x="7421194" y="4467860"/>
            <a:ext cx="3810381" cy="778764"/>
          </a:xfrm>
          <a:prstGeom prst="rect">
            <a:avLst/>
          </a:prstGeom>
          <a:noFill/>
          <a:ln/>
        </p:spPr>
        <p:txBody>
          <a:bodyPr wrap="square" lIns="0" tIns="0" rIns="0" bIns="0" rtlCol="0" anchor="t"/>
          <a:lstStyle/>
          <a:p>
            <a:pPr indent="0" marL="0">
              <a:lnSpc>
                <a:spcPts val="1900"/>
              </a:lnSpc>
              <a:buNone/>
            </a:pPr>
            <a:r>
              <a:rPr lang="en-US" sz="1400" dirty="0">
                <a:solidFill>
                  <a:srgbClr val="68808B"/>
                </a:solidFill>
                <a:latin typeface="Calibri" pitchFamily="34" charset="0"/>
                <a:ea typeface="Calibri" pitchFamily="34" charset="-122"/>
                <a:cs typeface="Calibri" pitchFamily="34" charset="-120"/>
              </a:rPr>
              <a:t>The on-site model is at the noise floor: within a cell, jobs scatter with sd ≈ 3 L whatever we do.</a:t>
            </a:r>
            <a:endParaRPr lang="en-US" sz="1400" dirty="0"/>
          </a:p>
        </p:txBody>
      </p:sp>
      <p:sp>
        <p:nvSpPr>
          <p:cNvPr id="9" name="Text 6"/>
          <p:cNvSpPr txBox="1"/>
          <p:nvPr/>
        </p:nvSpPr>
        <p:spPr>
          <a:xfrm>
            <a:off x="685800" y="6327648"/>
            <a:ext cx="10820095" cy="237744"/>
          </a:xfrm>
          <a:prstGeom prst="rect">
            <a:avLst/>
          </a:prstGeom>
          <a:noFill/>
          <a:ln/>
        </p:spPr>
        <p:txBody>
          <a:bodyPr wrap="square" lIns="0" tIns="0" rIns="0" bIns="0" rtlCol="0" anchor="t"/>
          <a:lstStyle/>
          <a:p>
            <a:pPr indent="0" marL="0">
              <a:buNone/>
            </a:pPr>
            <a:r>
              <a:rPr lang="en-US" sz="1100" dirty="0">
                <a:solidFill>
                  <a:srgbClr val="68808B"/>
                </a:solidFill>
                <a:latin typeface="Calibri" pitchFamily="34" charset="0"/>
                <a:ea typeface="Calibri" pitchFamily="34" charset="-122"/>
                <a:cs typeface="Calibri" pitchFamily="34" charset="-120"/>
              </a:rPr>
              <a:t>Held-out test split · mean of ten seeds · results/model_comparison.csv</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820095" cy="274320"/>
          </a:xfrm>
          <a:prstGeom prst="rect">
            <a:avLst/>
          </a:prstGeom>
          <a:noFill/>
          <a:ln/>
        </p:spPr>
        <p:txBody>
          <a:bodyPr wrap="square" lIns="0" tIns="0" rIns="0" bIns="0" rtlCol="0" anchor="t"/>
          <a:lstStyle/>
          <a:p>
            <a:pPr indent="0" marL="0">
              <a:buNone/>
            </a:pPr>
            <a:r>
              <a:rPr lang="en-US" sz="1400" b="1" spc="200" kern="0" dirty="0">
                <a:solidFill>
                  <a:srgbClr val="17A398"/>
                </a:solidFill>
                <a:latin typeface="Calibri" pitchFamily="34" charset="0"/>
                <a:ea typeface="Calibri" pitchFamily="34" charset="-122"/>
                <a:cs typeface="Calibri" pitchFamily="34" charset="-120"/>
              </a:rPr>
              <a:t>WHAT DID NOT WORK</a:t>
            </a:r>
            <a:endParaRPr lang="en-US" sz="1400" dirty="0"/>
          </a:p>
        </p:txBody>
      </p:sp>
      <p:sp>
        <p:nvSpPr>
          <p:cNvPr id="3" name="Text 1"/>
          <p:cNvSpPr txBox="1"/>
          <p:nvPr/>
        </p:nvSpPr>
        <p:spPr>
          <a:xfrm>
            <a:off x="685800" y="1024128"/>
            <a:ext cx="10820095" cy="868680"/>
          </a:xfrm>
          <a:prstGeom prst="rect">
            <a:avLst/>
          </a:prstGeom>
          <a:noFill/>
          <a:ln/>
        </p:spPr>
        <p:txBody>
          <a:bodyPr wrap="square" lIns="0" tIns="0" rIns="0" bIns="0" rtlCol="0" anchor="t"/>
          <a:lstStyle/>
          <a:p>
            <a:pPr indent="0" marL="0">
              <a:buNone/>
            </a:pPr>
            <a:r>
              <a:rPr lang="en-US" sz="3000" b="1" dirty="0">
                <a:solidFill>
                  <a:srgbClr val="12333F"/>
                </a:solidFill>
                <a:latin typeface="Cambria" pitchFamily="34" charset="0"/>
                <a:ea typeface="Cambria" pitchFamily="34" charset="-122"/>
                <a:cs typeface="Cambria" pitchFamily="34" charset="-120"/>
              </a:rPr>
              <a:t>Three model families, one answer</a:t>
            </a:r>
            <a:endParaRPr lang="en-US" sz="3000" dirty="0"/>
          </a:p>
        </p:txBody>
      </p:sp>
      <p:sp>
        <p:nvSpPr>
          <p:cNvPr id="4" name="Text 2"/>
          <p:cNvSpPr txBox="1"/>
          <p:nvPr/>
        </p:nvSpPr>
        <p:spPr>
          <a:xfrm>
            <a:off x="685800" y="2057400"/>
            <a:ext cx="10820095" cy="689864"/>
          </a:xfrm>
          <a:prstGeom prst="rect">
            <a:avLst/>
          </a:prstGeom>
          <a:noFill/>
          <a:ln/>
        </p:spPr>
        <p:txBody>
          <a:bodyPr wrap="square" lIns="0" tIns="0" rIns="0" bIns="0" rtlCol="0" anchor="t"/>
          <a:lstStyle/>
          <a:p>
            <a:pPr indent="0" marL="0">
              <a:lnSpc>
                <a:spcPts val="2500"/>
              </a:lnSpc>
              <a:buNone/>
            </a:pPr>
            <a:r>
              <a:rPr lang="en-US" sz="1800" dirty="0">
                <a:solidFill>
                  <a:srgbClr val="12333F"/>
                </a:solidFill>
                <a:latin typeface="Calibri" pitchFamily="34" charset="0"/>
                <a:ea typeface="Calibri" pitchFamily="34" charset="-122"/>
                <a:cs typeface="Calibri" pitchFamily="34" charset="-120"/>
              </a:rPr>
              <a:t>Cell mean, linear with interaction, and gradient boosting differ by 0.001 L. The seed-to-seed spread is 0.038 L.</a:t>
            </a:r>
            <a:endParaRPr lang="en-US" sz="1800" dirty="0"/>
          </a:p>
        </p:txBody>
      </p:sp>
      <p:sp>
        <p:nvSpPr>
          <p:cNvPr id="5" name="Shape 3"/>
          <p:cNvSpPr/>
          <p:nvPr/>
        </p:nvSpPr>
        <p:spPr>
          <a:xfrm>
            <a:off x="685800" y="2985008"/>
            <a:ext cx="10820095" cy="1441704"/>
          </a:xfrm>
          <a:prstGeom prst="roundRect">
            <a:avLst>
              <a:gd name="adj" fmla="val 3805"/>
            </a:avLst>
          </a:prstGeom>
          <a:solidFill>
            <a:srgbClr val="EDF4F6"/>
          </a:solidFill>
          <a:ln w="12700">
            <a:solidFill>
              <a:srgbClr val="EDF4F6"/>
            </a:solidFill>
            <a:prstDash val="solid"/>
          </a:ln>
        </p:spPr>
      </p:sp>
      <p:sp>
        <p:nvSpPr>
          <p:cNvPr id="6" name="Text 4"/>
          <p:cNvSpPr txBox="1"/>
          <p:nvPr/>
        </p:nvSpPr>
        <p:spPr>
          <a:xfrm>
            <a:off x="960120" y="3259328"/>
            <a:ext cx="10271455" cy="893064"/>
          </a:xfrm>
          <a:prstGeom prst="rect">
            <a:avLst/>
          </a:prstGeom>
          <a:noFill/>
          <a:ln/>
        </p:spPr>
        <p:txBody>
          <a:bodyPr wrap="square" lIns="0" tIns="0" rIns="0" bIns="0" rtlCol="0" anchor="t"/>
          <a:lstStyle/>
          <a:p>
            <a:pPr indent="0" marL="0">
              <a:lnSpc>
                <a:spcPts val="3300"/>
              </a:lnSpc>
              <a:buNone/>
            </a:pPr>
            <a:r>
              <a:rPr lang="en-US" sz="2400" b="1" dirty="0">
                <a:solidFill>
                  <a:srgbClr val="0B6E8C"/>
                </a:solidFill>
                <a:latin typeface="Cambria" pitchFamily="34" charset="0"/>
                <a:ea typeface="Cambria" pitchFamily="34" charset="-122"/>
                <a:cs typeface="Cambria" pitchFamily="34" charset="-120"/>
              </a:rPr>
              <a:t>The noise between splits is about forty times the gap between models.</a:t>
            </a:r>
            <a:endParaRPr lang="en-US" sz="2400" dirty="0"/>
          </a:p>
        </p:txBody>
      </p:sp>
      <p:sp>
        <p:nvSpPr>
          <p:cNvPr id="7" name="Text 5"/>
          <p:cNvSpPr txBox="1"/>
          <p:nvPr/>
        </p:nvSpPr>
        <p:spPr>
          <a:xfrm>
            <a:off x="685800" y="4701032"/>
            <a:ext cx="5282032" cy="689864"/>
          </a:xfrm>
          <a:prstGeom prst="rect">
            <a:avLst/>
          </a:prstGeom>
          <a:noFill/>
          <a:ln/>
        </p:spPr>
        <p:txBody>
          <a:bodyPr wrap="square" lIns="0" tIns="0" rIns="0" bIns="0" rtlCol="0" anchor="t"/>
          <a:lstStyle/>
          <a:p>
            <a:pPr indent="0" marL="0">
              <a:lnSpc>
                <a:spcPts val="2500"/>
              </a:lnSpc>
              <a:buNone/>
            </a:pPr>
            <a:r>
              <a:rPr lang="en-US" sz="1800" dirty="0">
                <a:solidFill>
                  <a:srgbClr val="12333F"/>
                </a:solidFill>
                <a:latin typeface="Calibri" pitchFamily="34" charset="0"/>
                <a:ea typeface="Calibri" pitchFamily="34" charset="-122"/>
                <a:cs typeface="Calibri" pitchFamily="34" charset="-120"/>
              </a:rPr>
              <a:t>From one split, the ranking would be an artefact of which rows landed in the test set.</a:t>
            </a:r>
            <a:endParaRPr lang="en-US" sz="1800" dirty="0"/>
          </a:p>
        </p:txBody>
      </p:sp>
      <p:sp>
        <p:nvSpPr>
          <p:cNvPr id="8" name="Text 6"/>
          <p:cNvSpPr txBox="1"/>
          <p:nvPr/>
        </p:nvSpPr>
        <p:spPr>
          <a:xfrm>
            <a:off x="6223864" y="4701032"/>
            <a:ext cx="5282032" cy="689864"/>
          </a:xfrm>
          <a:prstGeom prst="rect">
            <a:avLst/>
          </a:prstGeom>
          <a:noFill/>
          <a:ln/>
        </p:spPr>
        <p:txBody>
          <a:bodyPr wrap="square" lIns="0" tIns="0" rIns="0" bIns="0" rtlCol="0" anchor="t"/>
          <a:lstStyle/>
          <a:p>
            <a:pPr indent="0" marL="0">
              <a:lnSpc>
                <a:spcPts val="2500"/>
              </a:lnSpc>
              <a:buNone/>
            </a:pPr>
            <a:r>
              <a:rPr lang="en-US" sz="1800" dirty="0">
                <a:solidFill>
                  <a:srgbClr val="12333F"/>
                </a:solidFill>
                <a:latin typeface="Calibri" pitchFamily="34" charset="0"/>
                <a:ea typeface="Calibri" pitchFamily="34" charset="-122"/>
                <a:cs typeface="Calibri" pitchFamily="34" charset="-120"/>
              </a:rPr>
              <a:t>We take the simplest family within 1% of the best — the cell mean — at both stages.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820095" cy="274320"/>
          </a:xfrm>
          <a:prstGeom prst="rect">
            <a:avLst/>
          </a:prstGeom>
          <a:noFill/>
          <a:ln/>
        </p:spPr>
        <p:txBody>
          <a:bodyPr wrap="square" lIns="0" tIns="0" rIns="0" bIns="0" rtlCol="0" anchor="t"/>
          <a:lstStyle/>
          <a:p>
            <a:pPr indent="0" marL="0">
              <a:buNone/>
            </a:pPr>
            <a:r>
              <a:rPr lang="en-US" sz="1400" b="1" spc="200" kern="0" dirty="0">
                <a:solidFill>
                  <a:srgbClr val="17A398"/>
                </a:solidFill>
                <a:latin typeface="Calibri" pitchFamily="34" charset="0"/>
                <a:ea typeface="Calibri" pitchFamily="34" charset="-122"/>
                <a:cs typeface="Calibri" pitchFamily="34" charset="-120"/>
              </a:rPr>
              <a:t>DELIVERABLE 1</a:t>
            </a:r>
            <a:endParaRPr lang="en-US" sz="1400" dirty="0"/>
          </a:p>
        </p:txBody>
      </p:sp>
      <p:sp>
        <p:nvSpPr>
          <p:cNvPr id="3" name="Text 1"/>
          <p:cNvSpPr txBox="1"/>
          <p:nvPr/>
        </p:nvSpPr>
        <p:spPr>
          <a:xfrm>
            <a:off x="685800" y="1024128"/>
            <a:ext cx="10820095" cy="868680"/>
          </a:xfrm>
          <a:prstGeom prst="rect">
            <a:avLst/>
          </a:prstGeom>
          <a:noFill/>
          <a:ln/>
        </p:spPr>
        <p:txBody>
          <a:bodyPr wrap="square" lIns="0" tIns="0" rIns="0" bIns="0" rtlCol="0" anchor="t"/>
          <a:lstStyle/>
          <a:p>
            <a:pPr indent="0" marL="0">
              <a:buNone/>
            </a:pPr>
            <a:r>
              <a:rPr lang="en-US" sz="3000" b="1" dirty="0">
                <a:solidFill>
                  <a:srgbClr val="12333F"/>
                </a:solidFill>
                <a:latin typeface="Cambria" pitchFamily="34" charset="0"/>
                <a:ea typeface="Cambria" pitchFamily="34" charset="-122"/>
                <a:cs typeface="Cambria" pitchFamily="34" charset="-120"/>
              </a:rPr>
              <a:t>Mean arithmetic overstates the tank</a:t>
            </a:r>
            <a:endParaRPr lang="en-US" sz="3000" dirty="0"/>
          </a:p>
        </p:txBody>
      </p:sp>
      <p:graphicFrame>
        <p:nvGraphicFramePr>
          <p:cNvPr id="4" name="Chart 0" descr=""/>
          <p:cNvGraphicFramePr/>
          <p:nvPr/>
        </p:nvGraphicFramePr>
        <p:xfrm>
          <a:off x="685800" y="2057400"/>
          <a:ext cx="6205042" cy="37490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146874" y="2057400"/>
            <a:ext cx="4359021" cy="689864"/>
          </a:xfrm>
          <a:prstGeom prst="rect">
            <a:avLst/>
          </a:prstGeom>
          <a:noFill/>
          <a:ln/>
        </p:spPr>
        <p:txBody>
          <a:bodyPr wrap="square" lIns="0" tIns="0" rIns="0" bIns="0" rtlCol="0" anchor="t"/>
          <a:lstStyle/>
          <a:p>
            <a:pPr indent="0" marL="0">
              <a:lnSpc>
                <a:spcPts val="2500"/>
              </a:lnSpc>
              <a:buNone/>
            </a:pPr>
            <a:r>
              <a:rPr lang="en-US" sz="1800" dirty="0">
                <a:solidFill>
                  <a:srgbClr val="12333F"/>
                </a:solidFill>
                <a:latin typeface="Calibri" pitchFamily="34" charset="0"/>
                <a:ea typeface="Calibri" pitchFamily="34" charset="-122"/>
                <a:cs typeface="Calibri" pitchFamily="34" charset="-120"/>
              </a:rPr>
              <a:t>Dividing capacity by the 55.7 L mean gives 3 / 5 / 6 jobs. Those loads fit:</a:t>
            </a:r>
            <a:endParaRPr lang="en-US" sz="1800" dirty="0"/>
          </a:p>
        </p:txBody>
      </p:sp>
      <p:sp>
        <p:nvSpPr>
          <p:cNvPr id="6" name="Shape 3"/>
          <p:cNvSpPr/>
          <p:nvPr/>
        </p:nvSpPr>
        <p:spPr>
          <a:xfrm>
            <a:off x="7146874" y="2948432"/>
            <a:ext cx="4359021" cy="1651508"/>
          </a:xfrm>
          <a:prstGeom prst="roundRect">
            <a:avLst>
              <a:gd name="adj" fmla="val 3322"/>
            </a:avLst>
          </a:prstGeom>
          <a:solidFill>
            <a:srgbClr val="EDF4F6"/>
          </a:solidFill>
          <a:ln w="12700">
            <a:solidFill>
              <a:srgbClr val="EDF4F6"/>
            </a:solidFill>
            <a:prstDash val="solid"/>
          </a:ln>
        </p:spPr>
      </p:sp>
      <p:sp>
        <p:nvSpPr>
          <p:cNvPr id="7" name="Text 4"/>
          <p:cNvSpPr txBox="1"/>
          <p:nvPr/>
        </p:nvSpPr>
        <p:spPr>
          <a:xfrm>
            <a:off x="7421194" y="3222752"/>
            <a:ext cx="3810381" cy="473964"/>
          </a:xfrm>
          <a:prstGeom prst="rect">
            <a:avLst/>
          </a:prstGeom>
          <a:noFill/>
          <a:ln/>
        </p:spPr>
        <p:txBody>
          <a:bodyPr wrap="square" lIns="0" tIns="0" rIns="0" bIns="0" rtlCol="0" anchor="t"/>
          <a:lstStyle/>
          <a:p>
            <a:pPr indent="0" marL="0">
              <a:lnSpc>
                <a:spcPts val="3300"/>
              </a:lnSpc>
              <a:buNone/>
            </a:pPr>
            <a:r>
              <a:rPr lang="en-US" sz="2400" b="1" dirty="0">
                <a:solidFill>
                  <a:srgbClr val="C25332"/>
                </a:solidFill>
                <a:latin typeface="Cambria" pitchFamily="34" charset="0"/>
                <a:ea typeface="Cambria" pitchFamily="34" charset="-122"/>
                <a:cs typeface="Cambria" pitchFamily="34" charset="-120"/>
              </a:rPr>
              <a:t>91%   53%   70%</a:t>
            </a:r>
            <a:endParaRPr lang="en-US" sz="2400" dirty="0"/>
          </a:p>
        </p:txBody>
      </p:sp>
      <p:sp>
        <p:nvSpPr>
          <p:cNvPr id="8" name="Text 5"/>
          <p:cNvSpPr txBox="1"/>
          <p:nvPr/>
        </p:nvSpPr>
        <p:spPr>
          <a:xfrm>
            <a:off x="7421194" y="3788156"/>
            <a:ext cx="3810381" cy="537464"/>
          </a:xfrm>
          <a:prstGeom prst="rect">
            <a:avLst/>
          </a:prstGeom>
          <a:noFill/>
          <a:ln/>
        </p:spPr>
        <p:txBody>
          <a:bodyPr wrap="square" lIns="0" tIns="0" rIns="0" bIns="0" rtlCol="0" anchor="t"/>
          <a:lstStyle/>
          <a:p>
            <a:pPr indent="0" marL="0">
              <a:lnSpc>
                <a:spcPts val="1900"/>
              </a:lnSpc>
              <a:buNone/>
            </a:pPr>
            <a:r>
              <a:rPr lang="en-US" sz="1400" dirty="0">
                <a:solidFill>
                  <a:srgbClr val="68808B"/>
                </a:solidFill>
                <a:latin typeface="Calibri" pitchFamily="34" charset="0"/>
                <a:ea typeface="Calibri" pitchFamily="34" charset="-122"/>
                <a:cs typeface="Calibri" pitchFamily="34" charset="-120"/>
              </a:rPr>
              <a:t>of the time — load the EV van for five and it runs dry every second day.</a:t>
            </a:r>
            <a:endParaRPr lang="en-US" sz="1400" dirty="0"/>
          </a:p>
        </p:txBody>
      </p:sp>
      <p:sp>
        <p:nvSpPr>
          <p:cNvPr id="9" name="Text 6"/>
          <p:cNvSpPr txBox="1"/>
          <p:nvPr/>
        </p:nvSpPr>
        <p:spPr>
          <a:xfrm>
            <a:off x="7146874" y="4874260"/>
            <a:ext cx="4359021" cy="689864"/>
          </a:xfrm>
          <a:prstGeom prst="rect">
            <a:avLst/>
          </a:prstGeom>
          <a:noFill/>
          <a:ln/>
        </p:spPr>
        <p:txBody>
          <a:bodyPr wrap="square" lIns="0" tIns="0" rIns="0" bIns="0" rtlCol="0" anchor="t"/>
          <a:lstStyle/>
          <a:p>
            <a:pPr indent="0" marL="0">
              <a:lnSpc>
                <a:spcPts val="2500"/>
              </a:lnSpc>
              <a:buNone/>
            </a:pPr>
            <a:r>
              <a:rPr lang="en-US" sz="1800" b="1" dirty="0">
                <a:solidFill>
                  <a:srgbClr val="0B6E8C"/>
                </a:solidFill>
                <a:latin typeface="Calibri" pitchFamily="34" charset="0"/>
                <a:ea typeface="Calibri" pitchFamily="34" charset="-122"/>
                <a:cs typeface="Calibri" pitchFamily="34" charset="-120"/>
              </a:rPr>
              <a:t>A capacity figure without a service level is not a usable number.</a:t>
            </a:r>
            <a:endParaRPr lang="en-US" sz="1800" dirty="0"/>
          </a:p>
        </p:txBody>
      </p:sp>
      <p:sp>
        <p:nvSpPr>
          <p:cNvPr id="10" name="Text 7"/>
          <p:cNvSpPr txBox="1"/>
          <p:nvPr/>
        </p:nvSpPr>
        <p:spPr>
          <a:xfrm>
            <a:off x="685800" y="6327648"/>
            <a:ext cx="10820095" cy="237744"/>
          </a:xfrm>
          <a:prstGeom prst="rect">
            <a:avLst/>
          </a:prstGeom>
          <a:noFill/>
          <a:ln/>
        </p:spPr>
        <p:txBody>
          <a:bodyPr wrap="square" lIns="0" tIns="0" rIns="0" bIns="0" rtlCol="0" anchor="t"/>
          <a:lstStyle/>
          <a:p>
            <a:pPr indent="0" marL="0">
              <a:buNone/>
            </a:pPr>
            <a:r>
              <a:rPr lang="en-US" sz="1100" dirty="0">
                <a:solidFill>
                  <a:srgbClr val="68808B"/>
                </a:solidFill>
                <a:latin typeface="Calibri" pitchFamily="34" charset="0"/>
                <a:ea typeface="Calibri" pitchFamily="34" charset="-122"/>
                <a:cs typeface="Calibri" pitchFamily="34" charset="-120"/>
              </a:rPr>
              <a:t>20,000 resampled crew-days · identical under all ten seeds · results/tank_capacity.csv</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820095" cy="274320"/>
          </a:xfrm>
          <a:prstGeom prst="rect">
            <a:avLst/>
          </a:prstGeom>
          <a:noFill/>
          <a:ln/>
        </p:spPr>
        <p:txBody>
          <a:bodyPr wrap="square" lIns="0" tIns="0" rIns="0" bIns="0" rtlCol="0" anchor="t"/>
          <a:lstStyle/>
          <a:p>
            <a:pPr indent="0" marL="0">
              <a:buNone/>
            </a:pPr>
            <a:r>
              <a:rPr lang="en-US" sz="1400" b="1" spc="200" kern="0" dirty="0">
                <a:solidFill>
                  <a:srgbClr val="17A398"/>
                </a:solidFill>
                <a:latin typeface="Calibri" pitchFamily="34" charset="0"/>
                <a:ea typeface="Calibri" pitchFamily="34" charset="-122"/>
                <a:cs typeface="Calibri" pitchFamily="34" charset="-120"/>
              </a:rPr>
              <a:t>DELIVERABLE 2</a:t>
            </a:r>
            <a:endParaRPr lang="en-US" sz="1400" dirty="0"/>
          </a:p>
        </p:txBody>
      </p:sp>
      <p:sp>
        <p:nvSpPr>
          <p:cNvPr id="3" name="Text 1"/>
          <p:cNvSpPr txBox="1"/>
          <p:nvPr/>
        </p:nvSpPr>
        <p:spPr>
          <a:xfrm>
            <a:off x="685800" y="1024128"/>
            <a:ext cx="10820095" cy="868680"/>
          </a:xfrm>
          <a:prstGeom prst="rect">
            <a:avLst/>
          </a:prstGeom>
          <a:noFill/>
          <a:ln/>
        </p:spPr>
        <p:txBody>
          <a:bodyPr wrap="square" lIns="0" tIns="0" rIns="0" bIns="0" rtlCol="0" anchor="t"/>
          <a:lstStyle/>
          <a:p>
            <a:pPr indent="0" marL="0">
              <a:buNone/>
            </a:pPr>
            <a:r>
              <a:rPr lang="en-US" sz="3000" b="1" dirty="0">
                <a:solidFill>
                  <a:srgbClr val="12333F"/>
                </a:solidFill>
                <a:latin typeface="Cambria" pitchFamily="34" charset="0"/>
                <a:ea typeface="Cambria" pitchFamily="34" charset="-122"/>
                <a:cs typeface="Cambria" pitchFamily="34" charset="-120"/>
              </a:rPr>
              <a:t>One tank does not cover a working day</a:t>
            </a:r>
            <a:endParaRPr lang="en-US" sz="3000" dirty="0"/>
          </a:p>
        </p:txBody>
      </p:sp>
      <p:pic>
        <p:nvPicPr>
          <p:cNvPr id="4" name="Image 0" descr="C:\Users\naman\OneDrive\Documents\doorstep-A07-water-supplies\paper\figures\tank_feasibility.png">    </p:cNvPr>
          <p:cNvPicPr>
            <a:picLocks noChangeAspect="1"/>
          </p:cNvPicPr>
          <p:nvPr/>
        </p:nvPicPr>
        <p:blipFill>
          <a:blip r:embed="rId1"/>
          <a:srcRect l="0" r="0" t="0" b="0"/>
          <a:stretch/>
        </p:blipFill>
        <p:spPr>
          <a:xfrm>
            <a:off x="685800" y="2057400"/>
            <a:ext cx="6205042" cy="3840480"/>
          </a:xfrm>
          <a:prstGeom prst="rect">
            <a:avLst/>
          </a:prstGeom>
        </p:spPr>
      </p:pic>
      <p:sp>
        <p:nvSpPr>
          <p:cNvPr id="5" name="Text 2"/>
          <p:cNvSpPr txBox="1"/>
          <p:nvPr/>
        </p:nvSpPr>
        <p:spPr>
          <a:xfrm>
            <a:off x="7146874" y="2057400"/>
            <a:ext cx="4359021" cy="372364"/>
          </a:xfrm>
          <a:prstGeom prst="rect">
            <a:avLst/>
          </a:prstGeom>
          <a:noFill/>
          <a:ln/>
        </p:spPr>
        <p:txBody>
          <a:bodyPr wrap="square" lIns="0" tIns="0" rIns="0" bIns="0" rtlCol="0" anchor="t"/>
          <a:lstStyle/>
          <a:p>
            <a:pPr indent="0" marL="0">
              <a:lnSpc>
                <a:spcPts val="2500"/>
              </a:lnSpc>
              <a:buNone/>
            </a:pPr>
            <a:r>
              <a:rPr lang="en-US" sz="1800" b="1" dirty="0">
                <a:solidFill>
                  <a:srgbClr val="12333F"/>
                </a:solidFill>
                <a:latin typeface="Calibri" pitchFamily="34" charset="0"/>
                <a:ea typeface="Calibri" pitchFamily="34" charset="-122"/>
                <a:cs typeface="Calibri" pitchFamily="34" charset="-120"/>
              </a:rPr>
              <a:t>Mean refills needed per crew-day</a:t>
            </a:r>
            <a:endParaRPr lang="en-US" sz="1800" dirty="0"/>
          </a:p>
        </p:txBody>
      </p:sp>
      <p:sp>
        <p:nvSpPr>
          <p:cNvPr id="6" name="Shape 3"/>
          <p:cNvSpPr/>
          <p:nvPr/>
        </p:nvSpPr>
        <p:spPr>
          <a:xfrm>
            <a:off x="7146874" y="2630932"/>
            <a:ext cx="4359021" cy="1811020"/>
          </a:xfrm>
          <a:prstGeom prst="roundRect">
            <a:avLst>
              <a:gd name="adj" fmla="val 3029"/>
            </a:avLst>
          </a:prstGeom>
          <a:solidFill>
            <a:srgbClr val="EDF4F6"/>
          </a:solidFill>
          <a:ln w="12700">
            <a:solidFill>
              <a:srgbClr val="EDF4F6"/>
            </a:solidFill>
            <a:prstDash val="solid"/>
          </a:ln>
        </p:spPr>
      </p:sp>
      <p:sp>
        <p:nvSpPr>
          <p:cNvPr id="7" name="Text 4"/>
          <p:cNvSpPr txBox="1"/>
          <p:nvPr/>
        </p:nvSpPr>
        <p:spPr>
          <a:xfrm>
            <a:off x="7421194" y="2905252"/>
            <a:ext cx="3810381" cy="893064"/>
          </a:xfrm>
          <a:prstGeom prst="rect">
            <a:avLst/>
          </a:prstGeom>
          <a:noFill/>
          <a:ln/>
        </p:spPr>
        <p:txBody>
          <a:bodyPr wrap="square" lIns="0" tIns="0" rIns="0" bIns="0" rtlCol="0" anchor="t"/>
          <a:lstStyle/>
          <a:p>
            <a:pPr indent="0" marL="0">
              <a:lnSpc>
                <a:spcPts val="3300"/>
              </a:lnSpc>
              <a:buNone/>
            </a:pPr>
            <a:r>
              <a:rPr lang="en-US" sz="2400" b="1" dirty="0">
                <a:solidFill>
                  <a:srgbClr val="0B6E8C"/>
                </a:solidFill>
                <a:latin typeface="Cambria" pitchFamily="34" charset="0"/>
                <a:ea typeface="Cambria" pitchFamily="34" charset="-122"/>
                <a:cs typeface="Cambria" pitchFamily="34" charset="-120"/>
              </a:rPr>
              <a:t>0.88   ·   0.45   ·   0.26</a:t>
            </a:r>
            <a:endParaRPr lang="en-US" sz="2400" dirty="0"/>
          </a:p>
        </p:txBody>
      </p:sp>
      <p:sp>
        <p:nvSpPr>
          <p:cNvPr id="8" name="Text 5"/>
          <p:cNvSpPr txBox="1"/>
          <p:nvPr/>
        </p:nvSpPr>
        <p:spPr>
          <a:xfrm>
            <a:off x="7421194" y="3871468"/>
            <a:ext cx="3810381" cy="296164"/>
          </a:xfrm>
          <a:prstGeom prst="rect">
            <a:avLst/>
          </a:prstGeom>
          <a:noFill/>
          <a:ln/>
        </p:spPr>
        <p:txBody>
          <a:bodyPr wrap="square" lIns="0" tIns="0" rIns="0" bIns="0" rtlCol="0" anchor="t"/>
          <a:lstStyle/>
          <a:p>
            <a:pPr indent="0" marL="0">
              <a:lnSpc>
                <a:spcPts val="1900"/>
              </a:lnSpc>
              <a:buNone/>
            </a:pPr>
            <a:r>
              <a:rPr lang="en-US" sz="1400" dirty="0">
                <a:solidFill>
                  <a:srgbClr val="68808B"/>
                </a:solidFill>
                <a:latin typeface="Calibri" pitchFamily="34" charset="0"/>
                <a:ea typeface="Calibri" pitchFamily="34" charset="-122"/>
                <a:cs typeface="Calibri" pitchFamily="34" charset="-120"/>
              </a:rPr>
              <a:t>200 L        280 L        350 L</a:t>
            </a:r>
            <a:endParaRPr lang="en-US" sz="1400" dirty="0"/>
          </a:p>
        </p:txBody>
      </p:sp>
      <p:sp>
        <p:nvSpPr>
          <p:cNvPr id="9" name="Text 6"/>
          <p:cNvSpPr txBox="1"/>
          <p:nvPr/>
        </p:nvSpPr>
        <p:spPr>
          <a:xfrm>
            <a:off x="7146874" y="4697984"/>
            <a:ext cx="4359021" cy="1007364"/>
          </a:xfrm>
          <a:prstGeom prst="rect">
            <a:avLst/>
          </a:prstGeom>
          <a:noFill/>
          <a:ln/>
        </p:spPr>
        <p:txBody>
          <a:bodyPr wrap="square" lIns="0" tIns="0" rIns="0" bIns="0" rtlCol="0" anchor="t"/>
          <a:lstStyle/>
          <a:p>
            <a:pPr indent="0" marL="0">
              <a:lnSpc>
                <a:spcPts val="2500"/>
              </a:lnSpc>
              <a:buNone/>
            </a:pPr>
            <a:r>
              <a:rPr lang="en-US" sz="1800" b="1" dirty="0">
                <a:solidFill>
                  <a:srgbClr val="0B6E8C"/>
                </a:solidFill>
                <a:latin typeface="Calibri" pitchFamily="34" charset="0"/>
                <a:ea typeface="Calibri" pitchFamily="34" charset="-122"/>
                <a:cs typeface="Calibri" pitchFamily="34" charset="-120"/>
              </a:rPr>
              <a:t>A fifth of small-van days need two or more. For fleet sizing that is the difference — not jobs per fill.</a:t>
            </a:r>
            <a:endParaRPr lang="en-US" sz="1800" dirty="0"/>
          </a:p>
        </p:txBody>
      </p:sp>
      <p:sp>
        <p:nvSpPr>
          <p:cNvPr id="10" name="Text 7"/>
          <p:cNvSpPr txBox="1"/>
          <p:nvPr/>
        </p:nvSpPr>
        <p:spPr>
          <a:xfrm>
            <a:off x="685800" y="6327648"/>
            <a:ext cx="10820095" cy="237744"/>
          </a:xfrm>
          <a:prstGeom prst="rect">
            <a:avLst/>
          </a:prstGeom>
          <a:noFill/>
          <a:ln/>
        </p:spPr>
        <p:txBody>
          <a:bodyPr wrap="square" lIns="0" tIns="0" rIns="0" bIns="0" rtlCol="0" anchor="t"/>
          <a:lstStyle/>
          <a:p>
            <a:pPr indent="0" marL="0">
              <a:buNone/>
            </a:pPr>
            <a:r>
              <a:rPr lang="en-US" sz="1100" dirty="0">
                <a:solidFill>
                  <a:srgbClr val="68808B"/>
                </a:solidFill>
                <a:latin typeface="Calibri" pitchFamily="34" charset="0"/>
                <a:ea typeface="Calibri" pitchFamily="34" charset="-122"/>
                <a:cs typeface="Calibri" pitchFamily="34" charset="-120"/>
              </a:rPr>
              <a:t>8,342 crew-days · results/refill_planning.csv</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820095" cy="274320"/>
          </a:xfrm>
          <a:prstGeom prst="rect">
            <a:avLst/>
          </a:prstGeom>
          <a:noFill/>
          <a:ln/>
        </p:spPr>
        <p:txBody>
          <a:bodyPr wrap="square" lIns="0" tIns="0" rIns="0" bIns="0" rtlCol="0" anchor="t"/>
          <a:lstStyle/>
          <a:p>
            <a:pPr indent="0" marL="0">
              <a:buNone/>
            </a:pPr>
            <a:r>
              <a:rPr lang="en-US" sz="1400" b="1" spc="200" kern="0" dirty="0">
                <a:solidFill>
                  <a:srgbClr val="17A398"/>
                </a:solidFill>
                <a:latin typeface="Calibri" pitchFamily="34" charset="0"/>
                <a:ea typeface="Calibri" pitchFamily="34" charset="-122"/>
                <a:cs typeface="Calibri" pitchFamily="34" charset="-120"/>
              </a:rPr>
              <a:t>THE SURPRISE</a:t>
            </a:r>
            <a:endParaRPr lang="en-US" sz="1400" dirty="0"/>
          </a:p>
        </p:txBody>
      </p:sp>
      <p:sp>
        <p:nvSpPr>
          <p:cNvPr id="3" name="Text 1"/>
          <p:cNvSpPr txBox="1"/>
          <p:nvPr/>
        </p:nvSpPr>
        <p:spPr>
          <a:xfrm>
            <a:off x="685800" y="1024128"/>
            <a:ext cx="10820095" cy="868680"/>
          </a:xfrm>
          <a:prstGeom prst="rect">
            <a:avLst/>
          </a:prstGeom>
          <a:noFill/>
          <a:ln/>
        </p:spPr>
        <p:txBody>
          <a:bodyPr wrap="square" lIns="0" tIns="0" rIns="0" bIns="0" rtlCol="0" anchor="t"/>
          <a:lstStyle/>
          <a:p>
            <a:pPr indent="0" marL="0">
              <a:buNone/>
            </a:pPr>
            <a:r>
              <a:rPr lang="en-US" sz="3000" b="1" dirty="0">
                <a:solidFill>
                  <a:srgbClr val="12333F"/>
                </a:solidFill>
                <a:latin typeface="Cambria" pitchFamily="34" charset="0"/>
                <a:ea typeface="Cambria" pitchFamily="34" charset="-122"/>
                <a:cs typeface="Cambria" pitchFamily="34" charset="-120"/>
              </a:rPr>
              <a:t>Optimising the plan made it fail more often</a:t>
            </a:r>
            <a:endParaRPr lang="en-US" sz="3000" dirty="0"/>
          </a:p>
        </p:txBody>
      </p:sp>
      <p:graphicFrame>
        <p:nvGraphicFramePr>
          <p:cNvPr id="4" name="Chart 0" descr=""/>
          <p:cNvGraphicFramePr/>
          <p:nvPr/>
        </p:nvGraphicFramePr>
        <p:xfrm>
          <a:off x="685800" y="2057400"/>
          <a:ext cx="6205042" cy="37490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146874" y="2057400"/>
            <a:ext cx="4359021" cy="1007364"/>
          </a:xfrm>
          <a:prstGeom prst="rect">
            <a:avLst/>
          </a:prstGeom>
          <a:noFill/>
          <a:ln/>
        </p:spPr>
        <p:txBody>
          <a:bodyPr wrap="square" lIns="0" tIns="0" rIns="0" bIns="0" rtlCol="0" anchor="t"/>
          <a:lstStyle/>
          <a:p>
            <a:pPr indent="0" marL="0">
              <a:lnSpc>
                <a:spcPts val="2500"/>
              </a:lnSpc>
              <a:buNone/>
            </a:pPr>
            <a:r>
              <a:rPr lang="en-US" sz="1800" dirty="0">
                <a:solidFill>
                  <a:srgbClr val="12333F"/>
                </a:solidFill>
                <a:latin typeface="Calibri" pitchFamily="34" charset="0"/>
                <a:ea typeface="Calibri" pitchFamily="34" charset="-122"/>
                <a:cs typeface="Calibri" pitchFamily="34" charset="-120"/>
              </a:rPr>
              <a:t>Exact knapsack captures 13 points more revenue than booked order — and doubles the rate of running dry.</a:t>
            </a:r>
            <a:endParaRPr lang="en-US" sz="1800" dirty="0"/>
          </a:p>
        </p:txBody>
      </p:sp>
      <p:sp>
        <p:nvSpPr>
          <p:cNvPr id="6" name="Shape 3"/>
          <p:cNvSpPr/>
          <p:nvPr/>
        </p:nvSpPr>
        <p:spPr>
          <a:xfrm>
            <a:off x="7146874" y="3320796"/>
            <a:ext cx="4359021" cy="2481072"/>
          </a:xfrm>
          <a:prstGeom prst="roundRect">
            <a:avLst>
              <a:gd name="adj" fmla="val 2211"/>
            </a:avLst>
          </a:prstGeom>
          <a:solidFill>
            <a:srgbClr val="EDF4F6"/>
          </a:solidFill>
          <a:ln w="12700">
            <a:solidFill>
              <a:srgbClr val="EDF4F6"/>
            </a:solidFill>
            <a:prstDash val="solid"/>
          </a:ln>
        </p:spPr>
      </p:sp>
      <p:sp>
        <p:nvSpPr>
          <p:cNvPr id="7" name="Text 4"/>
          <p:cNvSpPr txBox="1"/>
          <p:nvPr/>
        </p:nvSpPr>
        <p:spPr>
          <a:xfrm>
            <a:off x="7421194" y="3595116"/>
            <a:ext cx="3810381" cy="1007364"/>
          </a:xfrm>
          <a:prstGeom prst="rect">
            <a:avLst/>
          </a:prstGeom>
          <a:noFill/>
          <a:ln/>
        </p:spPr>
        <p:txBody>
          <a:bodyPr wrap="square" lIns="0" tIns="0" rIns="0" bIns="0" rtlCol="0" anchor="t"/>
          <a:lstStyle/>
          <a:p>
            <a:pPr indent="0" marL="0">
              <a:lnSpc>
                <a:spcPts val="2500"/>
              </a:lnSpc>
              <a:buNone/>
            </a:pPr>
            <a:r>
              <a:rPr lang="en-US" sz="1800" b="1" dirty="0">
                <a:solidFill>
                  <a:srgbClr val="C25332"/>
                </a:solidFill>
                <a:latin typeface="Calibri" pitchFamily="34" charset="0"/>
                <a:ea typeface="Calibri" pitchFamily="34" charset="-122"/>
                <a:cs typeface="Calibri" pitchFamily="34" charset="-120"/>
              </a:rPr>
              <a:t>Packing to the limit spends the slack that was absorbing prediction error.</a:t>
            </a:r>
            <a:endParaRPr lang="en-US" sz="1800" dirty="0"/>
          </a:p>
        </p:txBody>
      </p:sp>
      <p:sp>
        <p:nvSpPr>
          <p:cNvPr id="8" name="Text 5"/>
          <p:cNvSpPr txBox="1"/>
          <p:nvPr/>
        </p:nvSpPr>
        <p:spPr>
          <a:xfrm>
            <a:off x="7421194" y="4748784"/>
            <a:ext cx="3810381" cy="778764"/>
          </a:xfrm>
          <a:prstGeom prst="rect">
            <a:avLst/>
          </a:prstGeom>
          <a:noFill/>
          <a:ln/>
        </p:spPr>
        <p:txBody>
          <a:bodyPr wrap="square" lIns="0" tIns="0" rIns="0" bIns="0" rtlCol="0" anchor="t"/>
          <a:lstStyle/>
          <a:p>
            <a:pPr indent="0" marL="0">
              <a:lnSpc>
                <a:spcPts val="1900"/>
              </a:lnSpc>
              <a:buNone/>
            </a:pPr>
            <a:r>
              <a:rPr lang="en-US" sz="1400" dirty="0">
                <a:solidFill>
                  <a:srgbClr val="68808B"/>
                </a:solidFill>
                <a:latin typeface="Calibri" pitchFamily="34" charset="0"/>
                <a:ea typeface="Calibri" pitchFamily="34" charset="-122"/>
                <a:cs typeface="Calibri" pitchFamily="34" charset="-120"/>
              </a:rPr>
              <a:t>Planning on the interval's upper bound removes it entirely, for about ten points of throughput.</a:t>
            </a:r>
            <a:endParaRPr lang="en-US" sz="1400" dirty="0"/>
          </a:p>
        </p:txBody>
      </p:sp>
      <p:sp>
        <p:nvSpPr>
          <p:cNvPr id="9" name="Text 6"/>
          <p:cNvSpPr txBox="1"/>
          <p:nvPr/>
        </p:nvSpPr>
        <p:spPr>
          <a:xfrm>
            <a:off x="685800" y="6327648"/>
            <a:ext cx="10820095" cy="237744"/>
          </a:xfrm>
          <a:prstGeom prst="rect">
            <a:avLst/>
          </a:prstGeom>
          <a:noFill/>
          <a:ln/>
        </p:spPr>
        <p:txBody>
          <a:bodyPr wrap="square" lIns="0" tIns="0" rIns="0" bIns="0" rtlCol="0" anchor="t"/>
          <a:lstStyle/>
          <a:p>
            <a:pPr indent="0" marL="0">
              <a:buNone/>
            </a:pPr>
            <a:r>
              <a:rPr lang="en-US" sz="1100" dirty="0">
                <a:solidFill>
                  <a:srgbClr val="68808B"/>
                </a:solidFill>
                <a:latin typeface="Calibri" pitchFamily="34" charset="0"/>
                <a:ea typeface="Calibri" pitchFamily="34" charset="-122"/>
                <a:cs typeface="Calibri" pitchFamily="34" charset="-120"/>
              </a:rPr>
              <a:t>200 L van · results/tank_plan.csv</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820095" cy="274320"/>
          </a:xfrm>
          <a:prstGeom prst="rect">
            <a:avLst/>
          </a:prstGeom>
          <a:noFill/>
          <a:ln/>
        </p:spPr>
        <p:txBody>
          <a:bodyPr wrap="square" lIns="0" tIns="0" rIns="0" bIns="0" rtlCol="0" anchor="t"/>
          <a:lstStyle/>
          <a:p>
            <a:pPr indent="0" marL="0">
              <a:buNone/>
            </a:pPr>
            <a:r>
              <a:rPr lang="en-US" sz="1400" b="1" spc="200" kern="0" dirty="0">
                <a:solidFill>
                  <a:srgbClr val="17A398"/>
                </a:solidFill>
                <a:latin typeface="Calibri" pitchFamily="34" charset="0"/>
                <a:ea typeface="Calibri" pitchFamily="34" charset="-122"/>
                <a:cs typeface="Calibri" pitchFamily="34" charset="-120"/>
              </a:rPr>
              <a:t>SUSTAINABILITY</a:t>
            </a:r>
            <a:endParaRPr lang="en-US" sz="1400" dirty="0"/>
          </a:p>
        </p:txBody>
      </p:sp>
      <p:sp>
        <p:nvSpPr>
          <p:cNvPr id="3" name="Text 1"/>
          <p:cNvSpPr txBox="1"/>
          <p:nvPr/>
        </p:nvSpPr>
        <p:spPr>
          <a:xfrm>
            <a:off x="685800" y="1024128"/>
            <a:ext cx="10820095" cy="868680"/>
          </a:xfrm>
          <a:prstGeom prst="rect">
            <a:avLst/>
          </a:prstGeom>
          <a:noFill/>
          <a:ln/>
        </p:spPr>
        <p:txBody>
          <a:bodyPr wrap="square" lIns="0" tIns="0" rIns="0" bIns="0" rtlCol="0" anchor="t"/>
          <a:lstStyle/>
          <a:p>
            <a:pPr indent="0" marL="0">
              <a:buNone/>
            </a:pPr>
            <a:r>
              <a:rPr lang="en-US" sz="3000" b="1" dirty="0">
                <a:solidFill>
                  <a:srgbClr val="12333F"/>
                </a:solidFill>
                <a:latin typeface="Cambria" pitchFamily="34" charset="0"/>
                <a:ea typeface="Cambria" pitchFamily="34" charset="-122"/>
                <a:cs typeface="Cambria" pitchFamily="34" charset="-120"/>
              </a:rPr>
              <a:t>The green claim, stated honestly</a:t>
            </a:r>
            <a:endParaRPr lang="en-US" sz="3000" dirty="0"/>
          </a:p>
        </p:txBody>
      </p:sp>
      <p:sp>
        <p:nvSpPr>
          <p:cNvPr id="4" name="Text 2"/>
          <p:cNvSpPr txBox="1"/>
          <p:nvPr/>
        </p:nvSpPr>
        <p:spPr>
          <a:xfrm>
            <a:off x="685800" y="2057400"/>
            <a:ext cx="10820095" cy="372364"/>
          </a:xfrm>
          <a:prstGeom prst="rect">
            <a:avLst/>
          </a:prstGeom>
          <a:noFill/>
          <a:ln/>
        </p:spPr>
        <p:txBody>
          <a:bodyPr wrap="square" lIns="0" tIns="0" rIns="0" bIns="0" rtlCol="0" anchor="t"/>
          <a:lstStyle/>
          <a:p>
            <a:pPr indent="0" marL="0">
              <a:lnSpc>
                <a:spcPts val="2500"/>
              </a:lnSpc>
              <a:buNone/>
            </a:pPr>
            <a:r>
              <a:rPr lang="en-US" sz="1800" dirty="0">
                <a:solidFill>
                  <a:srgbClr val="12333F"/>
                </a:solidFill>
                <a:latin typeface="Calibri" pitchFamily="34" charset="0"/>
                <a:ea typeface="Calibri" pitchFamily="34" charset="-122"/>
                <a:cs typeface="Calibri" pitchFamily="34" charset="-120"/>
              </a:rPr>
              <a:t>Doorstep uses 55.7 L per job, all of it freshwater — a van cannot reclaim.</a:t>
            </a:r>
            <a:endParaRPr lang="en-US" sz="1800" dirty="0"/>
          </a:p>
        </p:txBody>
      </p:sp>
      <p:sp>
        <p:nvSpPr>
          <p:cNvPr id="5" name="Shape 3"/>
          <p:cNvSpPr/>
          <p:nvPr/>
        </p:nvSpPr>
        <p:spPr>
          <a:xfrm>
            <a:off x="685800" y="2788920"/>
            <a:ext cx="5282032" cy="3115564"/>
          </a:xfrm>
          <a:prstGeom prst="roundRect">
            <a:avLst>
              <a:gd name="adj" fmla="val 1761"/>
            </a:avLst>
          </a:prstGeom>
          <a:solidFill>
            <a:srgbClr val="EDF4F6"/>
          </a:solidFill>
          <a:ln w="12700">
            <a:solidFill>
              <a:srgbClr val="EDF4F6"/>
            </a:solidFill>
            <a:prstDash val="solid"/>
          </a:ln>
        </p:spPr>
      </p:sp>
      <p:sp>
        <p:nvSpPr>
          <p:cNvPr id="6" name="Text 4"/>
          <p:cNvSpPr txBox="1"/>
          <p:nvPr/>
        </p:nvSpPr>
        <p:spPr>
          <a:xfrm>
            <a:off x="960120" y="3063240"/>
            <a:ext cx="4733392" cy="296164"/>
          </a:xfrm>
          <a:prstGeom prst="rect">
            <a:avLst/>
          </a:prstGeom>
          <a:noFill/>
          <a:ln/>
        </p:spPr>
        <p:txBody>
          <a:bodyPr wrap="square" lIns="0" tIns="0" rIns="0" bIns="0" rtlCol="0" anchor="t"/>
          <a:lstStyle/>
          <a:p>
            <a:pPr indent="0" marL="0">
              <a:lnSpc>
                <a:spcPts val="1900"/>
              </a:lnSpc>
              <a:buNone/>
            </a:pPr>
            <a:r>
              <a:rPr lang="en-US" sz="1400" b="1" spc="200" kern="0" dirty="0">
                <a:solidFill>
                  <a:srgbClr val="17A398"/>
                </a:solidFill>
                <a:latin typeface="Calibri" pitchFamily="34" charset="0"/>
                <a:ea typeface="Calibri" pitchFamily="34" charset="-122"/>
                <a:cs typeface="Calibri" pitchFamily="34" charset="-120"/>
              </a:rPr>
              <a:t>WHAT WE CAN CLAIM</a:t>
            </a:r>
            <a:endParaRPr lang="en-US" sz="1400" dirty="0"/>
          </a:p>
        </p:txBody>
      </p:sp>
      <p:sp>
        <p:nvSpPr>
          <p:cNvPr id="7" name="Text 5"/>
          <p:cNvSpPr txBox="1"/>
          <p:nvPr/>
        </p:nvSpPr>
        <p:spPr>
          <a:xfrm>
            <a:off x="960120" y="3560572"/>
            <a:ext cx="4733392" cy="1680464"/>
          </a:xfrm>
          <a:prstGeom prst="rect">
            <a:avLst/>
          </a:prstGeom>
          <a:noFill/>
          <a:ln/>
        </p:spPr>
        <p:txBody>
          <a:bodyPr wrap="square" lIns="0" tIns="0" rIns="0" bIns="0" rtlCol="0" anchor="t"/>
          <a:lstStyle/>
          <a:p>
            <a:pPr indent="0" marL="0">
              <a:lnSpc>
                <a:spcPts val="3200"/>
              </a:lnSpc>
              <a:buNone/>
            </a:pPr>
            <a:r>
              <a:rPr lang="en-US" sz="1800" dirty="0">
                <a:solidFill>
                  <a:srgbClr val="12333F"/>
                </a:solidFill>
                <a:latin typeface="Calibri" pitchFamily="34" charset="0"/>
                <a:ea typeface="Calibri" pitchFamily="34" charset="-122"/>
                <a:cs typeface="Calibri" pitchFamily="34" charset="-120"/>
              </a:rPr>
              <a:t>25% of a home hose left running</a:t>
            </a:r>
            <a:endParaRPr lang="en-US" sz="1800" dirty="0"/>
          </a:p>
          <a:p>
            <a:pPr indent="0" marL="0">
              <a:lnSpc>
                <a:spcPts val="3200"/>
              </a:lnSpc>
              <a:buNone/>
            </a:pPr>
            <a:r>
              <a:rPr lang="en-US" sz="1800" dirty="0">
                <a:solidFill>
                  <a:srgbClr val="12333F"/>
                </a:solidFill>
                <a:latin typeface="Calibri" pitchFamily="34" charset="0"/>
                <a:ea typeface="Calibri" pitchFamily="34" charset="-122"/>
                <a:cs typeface="Calibri" pitchFamily="34" charset="-120"/>
              </a:rPr>
              <a:t>22% of an unreclaimed conveyor</a:t>
            </a:r>
            <a:endParaRPr lang="en-US" sz="1800" dirty="0"/>
          </a:p>
          <a:p>
            <a:pPr indent="0" marL="0">
              <a:lnSpc>
                <a:spcPts val="3200"/>
              </a:lnSpc>
              <a:buNone/>
            </a:pPr>
            <a:r>
              <a:rPr lang="en-US" sz="1800" dirty="0">
                <a:solidFill>
                  <a:srgbClr val="12333F"/>
                </a:solidFill>
                <a:latin typeface="Calibri" pitchFamily="34" charset="0"/>
                <a:ea typeface="Calibri" pitchFamily="34" charset="-122"/>
                <a:cs typeface="Calibri" pitchFamily="34" charset="-120"/>
              </a:rPr>
              <a:t>49% of the measured conveyor fleet</a:t>
            </a:r>
            <a:endParaRPr lang="en-US" sz="1800" dirty="0"/>
          </a:p>
          <a:p>
            <a:pPr indent="0" marL="0">
              <a:lnSpc>
                <a:spcPts val="3200"/>
              </a:lnSpc>
              <a:buNone/>
            </a:pPr>
            <a:r>
              <a:rPr lang="en-US" sz="1800" dirty="0">
                <a:solidFill>
                  <a:srgbClr val="12333F"/>
                </a:solidFill>
                <a:latin typeface="Calibri" pitchFamily="34" charset="0"/>
                <a:ea typeface="Calibri" pitchFamily="34" charset="-122"/>
                <a:cs typeface="Calibri" pitchFamily="34" charset="-120"/>
              </a:rPr>
              <a:t>Level with a self-service bay</a:t>
            </a:r>
            <a:endParaRPr lang="en-US" sz="1800" dirty="0"/>
          </a:p>
        </p:txBody>
      </p:sp>
      <p:sp>
        <p:nvSpPr>
          <p:cNvPr id="8" name="Shape 6"/>
          <p:cNvSpPr/>
          <p:nvPr/>
        </p:nvSpPr>
        <p:spPr>
          <a:xfrm>
            <a:off x="6223864" y="2788920"/>
            <a:ext cx="5282032" cy="3115564"/>
          </a:xfrm>
          <a:prstGeom prst="roundRect">
            <a:avLst>
              <a:gd name="adj" fmla="val 1761"/>
            </a:avLst>
          </a:prstGeom>
          <a:solidFill>
            <a:srgbClr val="EDF4F6"/>
          </a:solidFill>
          <a:ln w="12700">
            <a:solidFill>
              <a:srgbClr val="EDF4F6"/>
            </a:solidFill>
            <a:prstDash val="solid"/>
          </a:ln>
        </p:spPr>
      </p:sp>
      <p:sp>
        <p:nvSpPr>
          <p:cNvPr id="9" name="Text 7"/>
          <p:cNvSpPr txBox="1"/>
          <p:nvPr/>
        </p:nvSpPr>
        <p:spPr>
          <a:xfrm>
            <a:off x="6498184" y="3063240"/>
            <a:ext cx="4733392" cy="296164"/>
          </a:xfrm>
          <a:prstGeom prst="rect">
            <a:avLst/>
          </a:prstGeom>
          <a:noFill/>
          <a:ln/>
        </p:spPr>
        <p:txBody>
          <a:bodyPr wrap="square" lIns="0" tIns="0" rIns="0" bIns="0" rtlCol="0" anchor="t"/>
          <a:lstStyle/>
          <a:p>
            <a:pPr indent="0" marL="0">
              <a:lnSpc>
                <a:spcPts val="1900"/>
              </a:lnSpc>
              <a:buNone/>
            </a:pPr>
            <a:r>
              <a:rPr lang="en-US" sz="1400" b="1" spc="200" kern="0" dirty="0">
                <a:solidFill>
                  <a:srgbClr val="C25332"/>
                </a:solidFill>
                <a:latin typeface="Calibri" pitchFamily="34" charset="0"/>
                <a:ea typeface="Calibri" pitchFamily="34" charset="-122"/>
                <a:cs typeface="Calibri" pitchFamily="34" charset="-120"/>
              </a:rPr>
              <a:t>WHAT WE CANNOT</a:t>
            </a:r>
            <a:endParaRPr lang="en-US" sz="1400" dirty="0"/>
          </a:p>
        </p:txBody>
      </p:sp>
      <p:sp>
        <p:nvSpPr>
          <p:cNvPr id="10" name="Text 8"/>
          <p:cNvSpPr txBox="1"/>
          <p:nvPr/>
        </p:nvSpPr>
        <p:spPr>
          <a:xfrm>
            <a:off x="6498184" y="3505708"/>
            <a:ext cx="4733392" cy="689864"/>
          </a:xfrm>
          <a:prstGeom prst="rect">
            <a:avLst/>
          </a:prstGeom>
          <a:noFill/>
          <a:ln/>
        </p:spPr>
        <p:txBody>
          <a:bodyPr wrap="square" lIns="0" tIns="0" rIns="0" bIns="0" rtlCol="0" anchor="t"/>
          <a:lstStyle/>
          <a:p>
            <a:pPr indent="0" marL="0">
              <a:lnSpc>
                <a:spcPts val="5000"/>
              </a:lnSpc>
              <a:buNone/>
            </a:pPr>
            <a:r>
              <a:rPr lang="en-US" sz="3600" b="1" dirty="0">
                <a:solidFill>
                  <a:srgbClr val="C25332"/>
                </a:solidFill>
                <a:latin typeface="Cambria" pitchFamily="34" charset="0"/>
                <a:ea typeface="Cambria" pitchFamily="34" charset="-122"/>
                <a:cs typeface="Cambria" pitchFamily="34" charset="-120"/>
              </a:rPr>
              <a:t>189%</a:t>
            </a:r>
            <a:endParaRPr lang="en-US" sz="3600" dirty="0"/>
          </a:p>
        </p:txBody>
      </p:sp>
      <p:sp>
        <p:nvSpPr>
          <p:cNvPr id="11" name="Text 9"/>
          <p:cNvSpPr txBox="1"/>
          <p:nvPr/>
        </p:nvSpPr>
        <p:spPr>
          <a:xfrm>
            <a:off x="6498184" y="4305300"/>
            <a:ext cx="4733392" cy="1324864"/>
          </a:xfrm>
          <a:prstGeom prst="rect">
            <a:avLst/>
          </a:prstGeom>
          <a:noFill/>
          <a:ln/>
        </p:spPr>
        <p:txBody>
          <a:bodyPr wrap="square" lIns="0" tIns="0" rIns="0" bIns="0" rtlCol="0" anchor="t"/>
          <a:lstStyle/>
          <a:p>
            <a:pPr indent="0" marL="0">
              <a:lnSpc>
                <a:spcPts val="2500"/>
              </a:lnSpc>
              <a:buNone/>
            </a:pPr>
            <a:r>
              <a:rPr lang="en-US" sz="1800" dirty="0">
                <a:solidFill>
                  <a:srgbClr val="12333F"/>
                </a:solidFill>
                <a:latin typeface="Calibri" pitchFamily="34" charset="0"/>
                <a:ea typeface="Calibri" pitchFamily="34" charset="-122"/>
                <a:cs typeface="Calibri" pitchFamily="34" charset="-120"/>
              </a:rPr>
              <a:t>of a reclaim-equipped tunnel. It uses about half what we do per car, and the gap is structural — reclaim needs captured runoff, which a driveway cannot give.</a:t>
            </a:r>
            <a:endParaRPr lang="en-US" sz="1800" dirty="0"/>
          </a:p>
        </p:txBody>
      </p:sp>
      <p:sp>
        <p:nvSpPr>
          <p:cNvPr id="12" name="Text 10"/>
          <p:cNvSpPr txBox="1"/>
          <p:nvPr/>
        </p:nvSpPr>
        <p:spPr>
          <a:xfrm>
            <a:off x="685800" y="6327648"/>
            <a:ext cx="10820095" cy="237744"/>
          </a:xfrm>
          <a:prstGeom prst="rect">
            <a:avLst/>
          </a:prstGeom>
          <a:noFill/>
          <a:ln/>
        </p:spPr>
        <p:txBody>
          <a:bodyPr wrap="square" lIns="0" tIns="0" rIns="0" bIns="0" rtlCol="0" anchor="t"/>
          <a:lstStyle/>
          <a:p>
            <a:pPr indent="0" marL="0">
              <a:buNone/>
            </a:pPr>
            <a:r>
              <a:rPr lang="en-US" sz="1100" dirty="0">
                <a:solidFill>
                  <a:srgbClr val="68808B"/>
                </a:solidFill>
                <a:latin typeface="Calibri" pitchFamily="34" charset="0"/>
                <a:ea typeface="Calibri" pitchFamily="34" charset="-122"/>
                <a:cs typeface="Calibri" pitchFamily="34" charset="-120"/>
              </a:rPr>
              <a:t>EPA WaterSense 2012 · International Carwash Association 2018 · Zaneti et al. 2013</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333F"/>
        </a:solidFill>
      </p:bgPr>
    </p:bg>
    <p:spTree>
      <p:nvGrpSpPr>
        <p:cNvPr id="1" name=""/>
        <p:cNvGrpSpPr/>
        <p:nvPr/>
      </p:nvGrpSpPr>
      <p:grpSpPr>
        <a:xfrm>
          <a:off x="0" y="0"/>
          <a:ext cx="0" cy="0"/>
          <a:chOff x="0" y="0"/>
          <a:chExt cx="0" cy="0"/>
        </a:xfrm>
      </p:grpSpPr>
      <p:sp>
        <p:nvSpPr>
          <p:cNvPr id="2" name="Text 0"/>
          <p:cNvSpPr txBox="1"/>
          <p:nvPr/>
        </p:nvSpPr>
        <p:spPr>
          <a:xfrm>
            <a:off x="685800" y="685800"/>
            <a:ext cx="10820095" cy="274320"/>
          </a:xfrm>
          <a:prstGeom prst="rect">
            <a:avLst/>
          </a:prstGeom>
          <a:noFill/>
          <a:ln/>
        </p:spPr>
        <p:txBody>
          <a:bodyPr wrap="square" lIns="0" tIns="0" rIns="0" bIns="0" rtlCol="0" anchor="t"/>
          <a:lstStyle/>
          <a:p>
            <a:pPr indent="0" marL="0">
              <a:buNone/>
            </a:pPr>
            <a:r>
              <a:rPr lang="en-US" sz="1400" b="1" spc="200" kern="0" dirty="0">
                <a:solidFill>
                  <a:srgbClr val="17A398"/>
                </a:solidFill>
                <a:latin typeface="Calibri" pitchFamily="34" charset="0"/>
                <a:ea typeface="Calibri" pitchFamily="34" charset="-122"/>
                <a:cs typeface="Calibri" pitchFamily="34" charset="-120"/>
              </a:rPr>
              <a:t>WHAT WE WOULD TELL THE COMPANY</a:t>
            </a:r>
            <a:endParaRPr lang="en-US" sz="1400" dirty="0"/>
          </a:p>
        </p:txBody>
      </p:sp>
      <p:sp>
        <p:nvSpPr>
          <p:cNvPr id="3" name="Text 1"/>
          <p:cNvSpPr txBox="1"/>
          <p:nvPr/>
        </p:nvSpPr>
        <p:spPr>
          <a:xfrm>
            <a:off x="685800" y="1024128"/>
            <a:ext cx="9897085" cy="8686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Three recommendations</a:t>
            </a:r>
            <a:endParaRPr lang="en-US" sz="3000" dirty="0"/>
          </a:p>
        </p:txBody>
      </p:sp>
      <p:sp>
        <p:nvSpPr>
          <p:cNvPr id="4" name="Text 2"/>
          <p:cNvSpPr txBox="1"/>
          <p:nvPr/>
        </p:nvSpPr>
        <p:spPr>
          <a:xfrm>
            <a:off x="685800" y="2240280"/>
            <a:ext cx="666979" cy="473964"/>
          </a:xfrm>
          <a:prstGeom prst="rect">
            <a:avLst/>
          </a:prstGeom>
          <a:noFill/>
          <a:ln/>
        </p:spPr>
        <p:txBody>
          <a:bodyPr wrap="square" lIns="0" tIns="0" rIns="0" bIns="0" rtlCol="0" anchor="t"/>
          <a:lstStyle/>
          <a:p>
            <a:pPr indent="0" marL="0">
              <a:lnSpc>
                <a:spcPts val="3300"/>
              </a:lnSpc>
              <a:buNone/>
            </a:pPr>
            <a:r>
              <a:rPr lang="en-US" sz="2400" b="1" dirty="0">
                <a:solidFill>
                  <a:srgbClr val="17A398"/>
                </a:solidFill>
                <a:latin typeface="Cambria" pitchFamily="34" charset="0"/>
                <a:ea typeface="Cambria" pitchFamily="34" charset="-122"/>
                <a:cs typeface="Cambria" pitchFamily="34" charset="-120"/>
              </a:rPr>
              <a:t>1</a:t>
            </a:r>
            <a:endParaRPr lang="en-US" sz="2400" dirty="0"/>
          </a:p>
        </p:txBody>
      </p:sp>
      <p:sp>
        <p:nvSpPr>
          <p:cNvPr id="5" name="Text 3"/>
          <p:cNvSpPr txBox="1"/>
          <p:nvPr/>
        </p:nvSpPr>
        <p:spPr>
          <a:xfrm>
            <a:off x="1608811" y="2240280"/>
            <a:ext cx="9897085" cy="410464"/>
          </a:xfrm>
          <a:prstGeom prst="rect">
            <a:avLst/>
          </a:prstGeom>
          <a:noFill/>
          <a:ln/>
        </p:spPr>
        <p:txBody>
          <a:bodyPr wrap="square" lIns="0" tIns="0" rIns="0" bIns="0" rtlCol="0" anchor="t"/>
          <a:lstStyle/>
          <a:p>
            <a:pPr indent="0" marL="0">
              <a:lnSpc>
                <a:spcPts val="2800"/>
              </a:lnSpc>
              <a:buNone/>
            </a:pPr>
            <a:r>
              <a:rPr lang="en-US" sz="2000" b="1" dirty="0">
                <a:solidFill>
                  <a:srgbClr val="FFFFFF"/>
                </a:solidFill>
                <a:latin typeface="Calibri" pitchFamily="34" charset="0"/>
                <a:ea typeface="Calibri" pitchFamily="34" charset="-122"/>
                <a:cs typeface="Calibri" pitchFamily="34" charset="-120"/>
              </a:rPr>
              <a:t>Quote capacity with a service level</a:t>
            </a:r>
            <a:endParaRPr lang="en-US" sz="2000" dirty="0"/>
          </a:p>
        </p:txBody>
      </p:sp>
      <p:sp>
        <p:nvSpPr>
          <p:cNvPr id="6" name="Text 4"/>
          <p:cNvSpPr txBox="1"/>
          <p:nvPr/>
        </p:nvSpPr>
        <p:spPr>
          <a:xfrm>
            <a:off x="1608811" y="2705608"/>
            <a:ext cx="9897085" cy="296164"/>
          </a:xfrm>
          <a:prstGeom prst="rect">
            <a:avLst/>
          </a:prstGeom>
          <a:noFill/>
          <a:ln/>
        </p:spPr>
        <p:txBody>
          <a:bodyPr wrap="square" lIns="0" tIns="0" rIns="0" bIns="0" rtlCol="0" anchor="t"/>
          <a:lstStyle/>
          <a:p>
            <a:pPr indent="0" marL="0">
              <a:lnSpc>
                <a:spcPts val="1900"/>
              </a:lnSpc>
              <a:buNone/>
            </a:pPr>
            <a:r>
              <a:rPr lang="en-US" sz="1400" dirty="0">
                <a:solidFill>
                  <a:srgbClr val="AFC7D0"/>
                </a:solidFill>
                <a:latin typeface="Calibri" pitchFamily="34" charset="0"/>
                <a:ea typeface="Calibri" pitchFamily="34" charset="-122"/>
                <a:cs typeface="Calibri" pitchFamily="34" charset="-120"/>
              </a:rPr>
              <a:t>2 / 4 / 5 jobs at 95% — never a bare number</a:t>
            </a:r>
            <a:endParaRPr lang="en-US" sz="1400" dirty="0"/>
          </a:p>
        </p:txBody>
      </p:sp>
      <p:sp>
        <p:nvSpPr>
          <p:cNvPr id="7" name="Text 5"/>
          <p:cNvSpPr txBox="1"/>
          <p:nvPr/>
        </p:nvSpPr>
        <p:spPr>
          <a:xfrm>
            <a:off x="685800" y="3383280"/>
            <a:ext cx="666979" cy="473964"/>
          </a:xfrm>
          <a:prstGeom prst="rect">
            <a:avLst/>
          </a:prstGeom>
          <a:noFill/>
          <a:ln/>
        </p:spPr>
        <p:txBody>
          <a:bodyPr wrap="square" lIns="0" tIns="0" rIns="0" bIns="0" rtlCol="0" anchor="t"/>
          <a:lstStyle/>
          <a:p>
            <a:pPr indent="0" marL="0">
              <a:lnSpc>
                <a:spcPts val="3300"/>
              </a:lnSpc>
              <a:buNone/>
            </a:pPr>
            <a:r>
              <a:rPr lang="en-US" sz="2400" b="1" dirty="0">
                <a:solidFill>
                  <a:srgbClr val="17A398"/>
                </a:solidFill>
                <a:latin typeface="Cambria" pitchFamily="34" charset="0"/>
                <a:ea typeface="Cambria" pitchFamily="34" charset="-122"/>
                <a:cs typeface="Cambria" pitchFamily="34" charset="-120"/>
              </a:rPr>
              <a:t>2</a:t>
            </a:r>
            <a:endParaRPr lang="en-US" sz="2400" dirty="0"/>
          </a:p>
        </p:txBody>
      </p:sp>
      <p:sp>
        <p:nvSpPr>
          <p:cNvPr id="8" name="Text 6"/>
          <p:cNvSpPr txBox="1"/>
          <p:nvPr/>
        </p:nvSpPr>
        <p:spPr>
          <a:xfrm>
            <a:off x="1608811" y="3383280"/>
            <a:ext cx="9897085" cy="410464"/>
          </a:xfrm>
          <a:prstGeom prst="rect">
            <a:avLst/>
          </a:prstGeom>
          <a:noFill/>
          <a:ln/>
        </p:spPr>
        <p:txBody>
          <a:bodyPr wrap="square" lIns="0" tIns="0" rIns="0" bIns="0" rtlCol="0" anchor="t"/>
          <a:lstStyle/>
          <a:p>
            <a:pPr indent="0" marL="0">
              <a:lnSpc>
                <a:spcPts val="2800"/>
              </a:lnSpc>
              <a:buNone/>
            </a:pPr>
            <a:r>
              <a:rPr lang="en-US" sz="2000" b="1" dirty="0">
                <a:solidFill>
                  <a:srgbClr val="FFFFFF"/>
                </a:solidFill>
                <a:latin typeface="Calibri" pitchFamily="34" charset="0"/>
                <a:ea typeface="Calibri" pitchFamily="34" charset="-122"/>
                <a:cs typeface="Calibri" pitchFamily="34" charset="-120"/>
              </a:rPr>
              <a:t>Plan on refills, not jobs per tank</a:t>
            </a:r>
            <a:endParaRPr lang="en-US" sz="2000" dirty="0"/>
          </a:p>
        </p:txBody>
      </p:sp>
      <p:sp>
        <p:nvSpPr>
          <p:cNvPr id="9" name="Text 7"/>
          <p:cNvSpPr txBox="1"/>
          <p:nvPr/>
        </p:nvSpPr>
        <p:spPr>
          <a:xfrm>
            <a:off x="1608811" y="3848608"/>
            <a:ext cx="9897085" cy="296164"/>
          </a:xfrm>
          <a:prstGeom prst="rect">
            <a:avLst/>
          </a:prstGeom>
          <a:noFill/>
          <a:ln/>
        </p:spPr>
        <p:txBody>
          <a:bodyPr wrap="square" lIns="0" tIns="0" rIns="0" bIns="0" rtlCol="0" anchor="t"/>
          <a:lstStyle/>
          <a:p>
            <a:pPr indent="0" marL="0">
              <a:lnSpc>
                <a:spcPts val="1900"/>
              </a:lnSpc>
              <a:buNone/>
            </a:pPr>
            <a:r>
              <a:rPr lang="en-US" sz="1400" dirty="0">
                <a:solidFill>
                  <a:srgbClr val="AFC7D0"/>
                </a:solidFill>
                <a:latin typeface="Calibri" pitchFamily="34" charset="0"/>
                <a:ea typeface="Calibri" pitchFamily="34" charset="-122"/>
                <a:cs typeface="Calibri" pitchFamily="34" charset="-120"/>
              </a:rPr>
              <a:t>0.88 / 0.45 / 0.26 interruptions per crew-day</a:t>
            </a:r>
            <a:endParaRPr lang="en-US" sz="1400" dirty="0"/>
          </a:p>
        </p:txBody>
      </p:sp>
      <p:sp>
        <p:nvSpPr>
          <p:cNvPr id="10" name="Text 8"/>
          <p:cNvSpPr txBox="1"/>
          <p:nvPr/>
        </p:nvSpPr>
        <p:spPr>
          <a:xfrm>
            <a:off x="685800" y="4526280"/>
            <a:ext cx="666979" cy="473964"/>
          </a:xfrm>
          <a:prstGeom prst="rect">
            <a:avLst/>
          </a:prstGeom>
          <a:noFill/>
          <a:ln/>
        </p:spPr>
        <p:txBody>
          <a:bodyPr wrap="square" lIns="0" tIns="0" rIns="0" bIns="0" rtlCol="0" anchor="t"/>
          <a:lstStyle/>
          <a:p>
            <a:pPr indent="0" marL="0">
              <a:lnSpc>
                <a:spcPts val="3300"/>
              </a:lnSpc>
              <a:buNone/>
            </a:pPr>
            <a:r>
              <a:rPr lang="en-US" sz="2400" b="1" dirty="0">
                <a:solidFill>
                  <a:srgbClr val="17A398"/>
                </a:solidFill>
                <a:latin typeface="Cambria" pitchFamily="34" charset="0"/>
                <a:ea typeface="Cambria" pitchFamily="34" charset="-122"/>
                <a:cs typeface="Cambria" pitchFamily="34" charset="-120"/>
              </a:rPr>
              <a:t>3</a:t>
            </a:r>
            <a:endParaRPr lang="en-US" sz="2400" dirty="0"/>
          </a:p>
        </p:txBody>
      </p:sp>
      <p:sp>
        <p:nvSpPr>
          <p:cNvPr id="11" name="Text 9"/>
          <p:cNvSpPr txBox="1"/>
          <p:nvPr/>
        </p:nvSpPr>
        <p:spPr>
          <a:xfrm>
            <a:off x="1608811" y="4526280"/>
            <a:ext cx="9897085" cy="410464"/>
          </a:xfrm>
          <a:prstGeom prst="rect">
            <a:avLst/>
          </a:prstGeom>
          <a:noFill/>
          <a:ln/>
        </p:spPr>
        <p:txBody>
          <a:bodyPr wrap="square" lIns="0" tIns="0" rIns="0" bIns="0" rtlCol="0" anchor="t"/>
          <a:lstStyle/>
          <a:p>
            <a:pPr indent="0" marL="0">
              <a:lnSpc>
                <a:spcPts val="2800"/>
              </a:lnSpc>
              <a:buNone/>
            </a:pPr>
            <a:r>
              <a:rPr lang="en-US" sz="2000" b="1" dirty="0">
                <a:solidFill>
                  <a:srgbClr val="FFFFFF"/>
                </a:solidFill>
                <a:latin typeface="Calibri" pitchFamily="34" charset="0"/>
                <a:ea typeface="Calibri" pitchFamily="34" charset="-122"/>
                <a:cs typeface="Calibri" pitchFamily="34" charset="-120"/>
              </a:rPr>
              <a:t>Feed the optimiser the interval</a:t>
            </a:r>
            <a:endParaRPr lang="en-US" sz="2000" dirty="0"/>
          </a:p>
        </p:txBody>
      </p:sp>
      <p:sp>
        <p:nvSpPr>
          <p:cNvPr id="12" name="Text 10"/>
          <p:cNvSpPr txBox="1"/>
          <p:nvPr/>
        </p:nvSpPr>
        <p:spPr>
          <a:xfrm>
            <a:off x="1608811" y="4991608"/>
            <a:ext cx="9897085" cy="296164"/>
          </a:xfrm>
          <a:prstGeom prst="rect">
            <a:avLst/>
          </a:prstGeom>
          <a:noFill/>
          <a:ln/>
        </p:spPr>
        <p:txBody>
          <a:bodyPr wrap="square" lIns="0" tIns="0" rIns="0" bIns="0" rtlCol="0" anchor="t"/>
          <a:lstStyle/>
          <a:p>
            <a:pPr indent="0" marL="0">
              <a:lnSpc>
                <a:spcPts val="1900"/>
              </a:lnSpc>
              <a:buNone/>
            </a:pPr>
            <a:r>
              <a:rPr lang="en-US" sz="1400" dirty="0">
                <a:solidFill>
                  <a:srgbClr val="AFC7D0"/>
                </a:solidFill>
                <a:latin typeface="Calibri" pitchFamily="34" charset="0"/>
                <a:ea typeface="Calibri" pitchFamily="34" charset="-122"/>
                <a:cs typeface="Calibri" pitchFamily="34" charset="-120"/>
              </a:rPr>
              <a:t>the point estimate doubles the rate of running dry</a:t>
            </a:r>
            <a:endParaRPr lang="en-US" sz="1400" dirty="0"/>
          </a:p>
        </p:txBody>
      </p:sp>
      <p:sp>
        <p:nvSpPr>
          <p:cNvPr id="13" name="Text 11"/>
          <p:cNvSpPr txBox="1"/>
          <p:nvPr/>
        </p:nvSpPr>
        <p:spPr>
          <a:xfrm>
            <a:off x="685800" y="5715000"/>
            <a:ext cx="10820095" cy="296164"/>
          </a:xfrm>
          <a:prstGeom prst="rect">
            <a:avLst/>
          </a:prstGeom>
          <a:noFill/>
          <a:ln/>
        </p:spPr>
        <p:txBody>
          <a:bodyPr wrap="square" lIns="0" tIns="0" rIns="0" bIns="0" rtlCol="0" anchor="t"/>
          <a:lstStyle/>
          <a:p>
            <a:pPr indent="0" marL="0">
              <a:lnSpc>
                <a:spcPts val="1900"/>
              </a:lnSpc>
              <a:buNone/>
            </a:pPr>
            <a:r>
              <a:rPr lang="en-US" sz="1400" i="1" dirty="0">
                <a:solidFill>
                  <a:srgbClr val="17A398"/>
                </a:solidFill>
                <a:latin typeface="Calibri" pitchFamily="34" charset="0"/>
                <a:ea typeface="Calibri" pitchFamily="34" charset="-122"/>
                <a:cs typeface="Calibri" pitchFamily="34" charset="-120"/>
              </a:rPr>
              <a:t>Biggest open gap: if A14's photo check can grade dirt at booking, our planning error halves — from 5.90 L to 2.40 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A7 - Water and Supplies</dc:title>
  <dc:subject>PptxGenJS Presentation</dc:subject>
  <dc:creator>A7 Water and Supplies</dc:creator>
  <cp:lastModifiedBy>A7 Water and Supplies</cp:lastModifiedBy>
  <cp:revision>1</cp:revision>
  <dcterms:created xsi:type="dcterms:W3CDTF">2026-09-12T18:41:00Z</dcterms:created>
  <dcterms:modified xsi:type="dcterms:W3CDTF">2026-09-12T18:41:00Z</dcterms:modified>
</cp:coreProperties>
</file>