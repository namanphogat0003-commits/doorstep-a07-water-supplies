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MAE (L)</c:v>
                </c:pt>
              </c:strCache>
            </c:strRef>
          </c:tx>
          <c:spPr>
            <a:solidFill>
              <a:srgbClr val="5A6B73"/>
            </a:solidFill>
            <a:effectLst/>
          </c:spPr>
          <c:invertIfNegative val="0"/>
          <c:dLbls>
            <c:numFmt formatCode="#,##0" sourceLinked="0"/>
            <c:txPr>
              <a:bodyPr/>
              <a:lstStyle/>
              <a:p>
                <a:pPr>
                  <a:defRPr b="0" i="0" strike="noStrike" sz="1400" u="none">
                    <a:solidFill>
                      <a:srgbClr val="0B2B3A"/>
                    </a:solidFill>
                    <a:latin typeface="Calibri"/>
                  </a:defRPr>
                </a:pPr>
              </a:p>
            </c:txPr>
            <c:showLegendKey val="0"/>
            <c:showVal val="1"/>
            <c:showCatName val="0"/>
            <c:showSerName val="0"/>
            <c:showPercent val="0"/>
            <c:showBubbleSize val="0"/>
            <c:showLeaderLines val="0"/>
          </c:dLbls>
          <c:dPt>
            <c:idx val="0"/>
            <c:invertIfNegative val="0"/>
            <c:bubble3D val="0"/>
            <c:spPr>
              <a:solidFill>
                <a:srgbClr val="5A6B73"/>
              </a:solidFill>
              <a:effectLst/>
            </c:spPr>
          </c:dPt>
          <c:dPt>
            <c:idx val="1"/>
            <c:invertIfNegative val="0"/>
            <c:bubble3D val="0"/>
            <c:spPr>
              <a:solidFill>
                <a:srgbClr val="5A6B73"/>
              </a:solidFill>
              <a:effectLst/>
            </c:spPr>
          </c:dPt>
          <c:dPt>
            <c:idx val="2"/>
            <c:invertIfNegative val="0"/>
            <c:bubble3D val="0"/>
            <c:spPr>
              <a:solidFill>
                <a:srgbClr val="065A82"/>
              </a:solidFill>
              <a:effectLst/>
            </c:spPr>
          </c:dPt>
          <c:dPt>
            <c:idx val="3"/>
            <c:invertIfNegative val="0"/>
            <c:bubble3D val="0"/>
            <c:spPr>
              <a:solidFill>
                <a:srgbClr val="00A896"/>
              </a:solidFill>
              <a:effectLst/>
            </c:spPr>
          </c:dPt>
          <c:cat>
            <c:multiLvlStrRef>
              <c:f>Sheet1!$A$2:$A$5</c:f>
              <c:multiLvlStrCache>
                <c:ptCount val="4"/>
                <c:lvl>
                  <c:pt idx="0">
                    <c:v>Global mean
(baseline)</c:v>
                  </c:pt>
                  <c:pt idx="1">
                    <c:v>Vehicle-size
mean</c:v>
                  </c:pt>
                  <c:pt idx="2">
                    <c:v>Planning
model</c:v>
                  </c:pt>
                  <c:pt idx="3">
                    <c:v>On-site
model</c:v>
                  </c:pt>
                </c:lvl>
              </c:multiLvlStrCache>
            </c:multiLvlStrRef>
          </c:cat>
          <c:val>
            <c:numRef>
              <c:f>Sheet1!$B$2:$B$5</c:f>
              <c:numCache>
                <c:formatCode>General</c:formatCode>
                <c:ptCount val="4"/>
                <c:pt idx="0">
                  <c:v>11.152</c:v>
                </c:pt>
                <c:pt idx="1">
                  <c:v>8.922</c:v>
                </c:pt>
                <c:pt idx="2">
                  <c:v>5.897</c:v>
                </c:pt>
                <c:pt idx="3">
                  <c:v>2.397</c:v>
                </c:pt>
              </c:numCache>
            </c:numRef>
          </c:val>
        </c:ser>
        <c:dLbls>
          <c:numFmt formatCode="#,##0" sourceLinked="0"/>
          <c:txPr>
            <a:bodyPr/>
            <a:lstStyle/>
            <a:p>
              <a:pPr>
                <a:defRPr b="0" i="0" strike="noStrike" sz="1400" u="none">
                  <a:solidFill>
                    <a:srgbClr val="0B2B3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5A6B73"/>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DDE6EA"/>
              </a:solidFill>
              <a:prstDash val="solid"/>
              <a:round/>
            </a:ln>
          </c:spPr>
        </c:majorGridlines>
        <c:title>
          <c:tx>
            <c:rich>
              <a:bodyPr/>
              <a:lstStyle/>
              <a:p>
                <a:pPr>
                  <a:defRPr sz="1400" b="0" i="0" u="none" strike="noStrike">
                    <a:solidFill>
                      <a:srgbClr val="5A6B73"/>
                    </a:solidFill>
                    <a:latin typeface="Calibri"/>
                  </a:defRPr>
                </a:pPr>
                <a:r>
                  <a:rPr sz="1400" b="0" i="0" u="none" strike="noStrike">
                    <a:solidFill>
                      <a:srgbClr val="5A6B73"/>
                    </a:solidFill>
                    <a:latin typeface="Calibri"/>
                  </a:rPr>
                  <a:t>mean absolute error, litres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5A6B7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Mean-based</c:v>
                </c:pt>
              </c:strCache>
            </c:strRef>
          </c:tx>
          <c:spPr>
            <a:solidFill>
              <a:srgbClr val="5A6B73"/>
            </a:solidFill>
            <a:effectLst/>
          </c:spPr>
          <c:invertIfNegative val="0"/>
          <c:dLbls>
            <c:numFmt formatCode="#,##0" sourceLinked="0"/>
            <c:txPr>
              <a:bodyPr/>
              <a:lstStyle/>
              <a:p>
                <a:pPr>
                  <a:defRPr b="0" i="0" strike="noStrike" sz="1400" u="none">
                    <a:solidFill>
                      <a:srgbClr val="0B2B3A"/>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200 L van</c:v>
                  </c:pt>
                  <c:pt idx="1">
                    <c:v>280 L van</c:v>
                  </c:pt>
                  <c:pt idx="2">
                    <c:v>350 L van</c:v>
                  </c:pt>
                </c:lvl>
              </c:multiLvlStrCache>
            </c:multiLvlStrRef>
          </c:cat>
          <c:val>
            <c:numRef>
              <c:f>Sheet1!$B$2:$B$4</c:f>
              <c:numCache>
                <c:formatCode>General</c:formatCode>
                <c:ptCount val="3"/>
                <c:pt idx="0">
                  <c:v>3</c:v>
                </c:pt>
                <c:pt idx="1">
                  <c:v>5</c:v>
                </c:pt>
                <c:pt idx="2">
                  <c:v>6</c:v>
                </c:pt>
              </c:numCache>
            </c:numRef>
          </c:val>
        </c:ser>
        <c:ser>
          <c:idx val="1"/>
          <c:order val="1"/>
          <c:tx>
            <c:strRef>
              <c:f>Sheet1!$C$1</c:f>
              <c:strCache>
                <c:ptCount val="1"/>
                <c:pt idx="0">
                  <c:v>95% service level</c:v>
                </c:pt>
              </c:strCache>
            </c:strRef>
          </c:tx>
          <c:spPr>
            <a:solidFill>
              <a:srgbClr val="065A82"/>
            </a:solidFill>
            <a:effectLst/>
          </c:spPr>
          <c:invertIfNegative val="0"/>
          <c:dLbls>
            <c:numFmt formatCode="#,##0" sourceLinked="0"/>
            <c:txPr>
              <a:bodyPr/>
              <a:lstStyle/>
              <a:p>
                <a:pPr>
                  <a:defRPr b="0" i="0" strike="noStrike" sz="1400" u="none">
                    <a:solidFill>
                      <a:srgbClr val="0B2B3A"/>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200 L van</c:v>
                  </c:pt>
                  <c:pt idx="1">
                    <c:v>280 L van</c:v>
                  </c:pt>
                  <c:pt idx="2">
                    <c:v>350 L van</c:v>
                  </c:pt>
                </c:lvl>
              </c:multiLvlStrCache>
            </c:multiLvlStrRef>
          </c:cat>
          <c:val>
            <c:numRef>
              <c:f>Sheet1!$C$2:$C$4</c:f>
              <c:numCache>
                <c:formatCode>General</c:formatCode>
                <c:ptCount val="3"/>
                <c:pt idx="0">
                  <c:v>2</c:v>
                </c:pt>
                <c:pt idx="1">
                  <c:v>4</c:v>
                </c:pt>
                <c:pt idx="2">
                  <c:v>5</c:v>
                </c:pt>
              </c:numCache>
            </c:numRef>
          </c:val>
        </c:ser>
        <c:dLbls>
          <c:numFmt formatCode="#,##0" sourceLinked="0"/>
          <c:txPr>
            <a:bodyPr/>
            <a:lstStyle/>
            <a:p>
              <a:pPr>
                <a:defRPr b="0" i="0" strike="noStrike" sz="1400" u="none">
                  <a:solidFill>
                    <a:srgbClr val="0B2B3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5A6B73"/>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DDE6EA"/>
              </a:solidFill>
              <a:prstDash val="solid"/>
              <a:round/>
            </a:ln>
          </c:spPr>
        </c:majorGridlines>
        <c:title>
          <c:tx>
            <c:rich>
              <a:bodyPr/>
              <a:lstStyle/>
              <a:p>
                <a:pPr>
                  <a:defRPr sz="1400" b="0" i="0" u="none" strike="noStrike">
                    <a:solidFill>
                      <a:srgbClr val="5A6B73"/>
                    </a:solidFill>
                    <a:latin typeface="Calibri"/>
                  </a:defRPr>
                </a:pPr>
                <a:r>
                  <a:rPr sz="1400" b="0" i="0" u="none" strike="noStrike">
                    <a:solidFill>
                      <a:srgbClr val="5A6B73"/>
                    </a:solidFill>
                    <a:latin typeface="Calibri"/>
                  </a:rPr>
                  <a:t>jobs per tank</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5A6B7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6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Crew-days that overflow the tank (%)</c:v>
                </c:pt>
              </c:strCache>
            </c:strRef>
          </c:tx>
          <c:spPr>
            <a:solidFill>
              <a:srgbClr val="5A6B73"/>
            </a:solidFill>
            <a:effectLst/>
          </c:spPr>
          <c:invertIfNegative val="0"/>
          <c:dLbls>
            <c:numFmt formatCode="#,##0" sourceLinked="0"/>
            <c:txPr>
              <a:bodyPr/>
              <a:lstStyle/>
              <a:p>
                <a:pPr>
                  <a:defRPr b="0" i="0" strike="noStrike" sz="1400" u="none">
                    <a:solidFill>
                      <a:srgbClr val="0B2B3A"/>
                    </a:solidFill>
                    <a:latin typeface="Calibri"/>
                  </a:defRPr>
                </a:pPr>
              </a:p>
            </c:txPr>
            <c:showLegendKey val="0"/>
            <c:showVal val="1"/>
            <c:showCatName val="0"/>
            <c:showSerName val="0"/>
            <c:showPercent val="0"/>
            <c:showBubbleSize val="0"/>
            <c:showLeaderLines val="0"/>
          </c:dLbls>
          <c:dPt>
            <c:idx val="0"/>
            <c:invertIfNegative val="0"/>
            <c:bubble3D val="0"/>
            <c:spPr>
              <a:solidFill>
                <a:srgbClr val="5A6B73"/>
              </a:solidFill>
              <a:effectLst/>
            </c:spPr>
          </c:dPt>
          <c:dPt>
            <c:idx val="1"/>
            <c:invertIfNegative val="0"/>
            <c:bubble3D val="0"/>
            <c:spPr>
              <a:solidFill>
                <a:srgbClr val="5A6B73"/>
              </a:solidFill>
              <a:effectLst/>
            </c:spPr>
          </c:dPt>
          <c:dPt>
            <c:idx val="2"/>
            <c:invertIfNegative val="0"/>
            <c:bubble3D val="0"/>
            <c:spPr>
              <a:solidFill>
                <a:srgbClr val="D9532B"/>
              </a:solidFill>
              <a:effectLst/>
            </c:spPr>
          </c:dPt>
          <c:dPt>
            <c:idx val="3"/>
            <c:invertIfNegative val="0"/>
            <c:bubble3D val="0"/>
            <c:spPr>
              <a:solidFill>
                <a:srgbClr val="00A896"/>
              </a:solidFill>
              <a:effectLst/>
            </c:spPr>
          </c:dPt>
          <c:cat>
            <c:multiLvlStrRef>
              <c:f>Sheet1!$A$2:$A$5</c:f>
              <c:multiLvlStrCache>
                <c:ptCount val="4"/>
                <c:lvl>
                  <c:pt idx="0">
                    <c:v>Booked order</c:v>
                  </c:pt>
                  <c:pt idx="1">
                    <c:v>Greedy by
value density</c:v>
                  </c:pt>
                  <c:pt idx="2">
                    <c:v>Exact
knapsack</c:v>
                  </c:pt>
                  <c:pt idx="3">
                    <c:v>Exact knapsack,
planned on interval</c:v>
                  </c:pt>
                </c:lvl>
              </c:multiLvlStrCache>
            </c:multiLvlStrRef>
          </c:cat>
          <c:val>
            <c:numRef>
              <c:f>Sheet1!$B$2:$B$5</c:f>
              <c:numCache>
                <c:formatCode>General</c:formatCode>
                <c:ptCount val="4"/>
                <c:pt idx="0">
                  <c:v>5.9</c:v>
                </c:pt>
                <c:pt idx="1">
                  <c:v>8.1</c:v>
                </c:pt>
                <c:pt idx="2">
                  <c:v>11.9</c:v>
                </c:pt>
                <c:pt idx="3">
                  <c:v>0</c:v>
                </c:pt>
              </c:numCache>
            </c:numRef>
          </c:val>
        </c:ser>
        <c:dLbls>
          <c:numFmt formatCode="#,##0" sourceLinked="0"/>
          <c:txPr>
            <a:bodyPr/>
            <a:lstStyle/>
            <a:p>
              <a:pPr>
                <a:defRPr b="0" i="0" strike="noStrike" sz="1400" u="none">
                  <a:solidFill>
                    <a:srgbClr val="0B2B3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5A6B73"/>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DDE6EA"/>
              </a:solidFill>
              <a:prstDash val="solid"/>
              <a:round/>
            </a:ln>
          </c:spPr>
        </c:majorGridlines>
        <c:title>
          <c:tx>
            <c:rich>
              <a:bodyPr/>
              <a:lstStyle/>
              <a:p>
                <a:pPr>
                  <a:defRPr sz="1400" b="0" i="0" u="none" strike="noStrike">
                    <a:solidFill>
                      <a:srgbClr val="5A6B73"/>
                    </a:solidFill>
                    <a:latin typeface="Calibri"/>
                  </a:defRPr>
                </a:pPr>
                <a:r>
                  <a:rPr sz="1400" b="0" i="0" u="none" strike="noStrike">
                    <a:solidFill>
                      <a:srgbClr val="5A6B73"/>
                    </a:solidFill>
                    <a:latin typeface="Calibri"/>
                  </a:rPr>
                  <a:t>% of crew-days that run dry</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5A6B7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Naman opens. One sentence: Doorstep washes cars at the customer, the van carries its own water, so the tank is what limits the day. Our module answers two questions - how much water will this job take, and how many jobs fit before a refill. Keep this to 20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Naman. The framing slide. The three numbers do the work: crews draw 262 litres a day, tanks hold 200 to 350, so on the small van six days in ten need a refill. That is the whole motivation - a single jobs-per-tank number cannot describe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Ranu presents this one. The point to land: we nearly missed the second-largest effect in the data because it was inside a delimited string rather than exposed as a column. Left chart is flat, right chart is not, same jobs. If asked why it matters: a consumer keying off slot_type gets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Ranu. Short slide. The curves are parallel in ratio, not in difference - that is what multiplicative means. Consequence in one line: additive model is the wrong shape, so we add the interaction term. Expect a viva question on how you spotted it: the ratio table, not the correlation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Vansh. This is the design decision the whole module rests on, so do not rush it. Using dirtiness at booking time would be leakage - the model would benchmark well and fail in deployment. Two models on disjoint feature sets, and a test in tests/ enforces that planning features never include dirtiness. Likely viva question: why not just predict dirtiness? Answer: we tried, it is an independent draw - uncorrelated with weather, flat across months, and the same customer varies more than customers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Vansh. Name the baseline before the model - that is what the rubric rewards. Global mean 11.15 litres is what you get by guessing. Planning halves it, on-site halves it again. Mention the spread: plus or minus 0.04 at planning, 0.014 on-site. Do not claim the on-site model could be improved - it is at the irreducible noise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Vansh. This is the honesty slide and it scores well - the guidebook says so explicitly. We are not claiming a win, we are claiming we cannot tell them apart, and we can only say that because we ran ten seeds. Be ready for: so why build the complex models? Answer: to establish the simple one is sufficient. That is a result, not a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Priyanshu. One of the two required deliverables. The trap is that 280 divided by 55.7 equals 5 looks obviously right and is obviously wrong - it throws away the spread. We resample 20,000 crew-days instead. Add that the 2/4/5 figures are identical under all ten resampling seeds, so this is a property of the distribution, not one draw.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Priyanshu. The point: a single jobs-per-tank number hides the real constraint. We count refills by walking each crew-day in arrival order and topping up before any job the remaining water cannot cover. This is the number A12 actually needs for fleet sizing, and it is in INTEGRATION.md.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Priyanshu, and this is the slide to spend time on - it is the most interesting result we have. We expected a better optimiser to be strictly better. It is not: the exact knapsack doubles the failure rate against simply serving in booked order, because tight packing consumes the slack that was quietly absorbing prediction error. The fix is to feed the optimiser the interval instead of the point estimate. If asked whether this is known: yes - Elmachtoub and Grigas, Smart Predict-then-Optimize, though their uncertainty is in the objective and ours is in the constraint. Also worth saying: the greedy rule reaches 99% of the exact solution, so we built the knapsack mainly to prove greedy was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Rudransh. Every figure here is cited - EPA WaterSense, the International Carwash Association, and Zaneti et al., who audited a reclamation plant needing under 40 litres of fresh water per wash. That last one corroborates our result from outside our data. The right-hand card is the one that earns marks: we are telling the examiner where our own product loses. INTEGRATION.md records what other teams may and may not claim on our behalf, so marketing cannot quote us as beating a modern tunnel.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Naman closes. Three recommendations, then the open gap - which is a good note to end on because it points at another team and shows we understand the system. Then hand to questions. Reminder for all five: everyone is asked individually, so know the file you own line by line, and roughly what the others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B3A"/>
        </a:solidFill>
      </p:bgPr>
    </p:bg>
    <p:spTree>
      <p:nvGrpSpPr>
        <p:cNvPr id="1" name=""/>
        <p:cNvGrpSpPr/>
        <p:nvPr/>
      </p:nvGrpSpPr>
      <p:grpSpPr>
        <a:xfrm>
          <a:off x="0" y="0"/>
          <a:ext cx="0" cy="0"/>
          <a:chOff x="0" y="0"/>
          <a:chExt cx="0" cy="0"/>
        </a:xfrm>
      </p:grpSpPr>
      <p:sp>
        <p:nvSpPr>
          <p:cNvPr id="2" name="Text 0"/>
          <p:cNvSpPr txBox="1"/>
          <p:nvPr/>
        </p:nvSpPr>
        <p:spPr>
          <a:xfrm>
            <a:off x="640080" y="1965960"/>
            <a:ext cx="1088136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Water and Supplies</a:t>
            </a:r>
            <a:endParaRPr lang="en-US" sz="5400" dirty="0"/>
          </a:p>
        </p:txBody>
      </p:sp>
      <p:sp>
        <p:nvSpPr>
          <p:cNvPr id="3" name="Text 1"/>
          <p:cNvSpPr txBox="1"/>
          <p:nvPr/>
        </p:nvSpPr>
        <p:spPr>
          <a:xfrm>
            <a:off x="640080" y="3017520"/>
            <a:ext cx="9509760" cy="548640"/>
          </a:xfrm>
          <a:prstGeom prst="rect">
            <a:avLst/>
          </a:prstGeom>
          <a:noFill/>
          <a:ln/>
        </p:spPr>
        <p:txBody>
          <a:bodyPr wrap="square" lIns="0" tIns="0" rIns="0" bIns="0" rtlCol="0" anchor="ctr"/>
          <a:lstStyle/>
          <a:p>
            <a:pPr indent="0" marL="0">
              <a:buNone/>
            </a:pPr>
            <a:r>
              <a:rPr lang="en-US" sz="2200" dirty="0">
                <a:solidFill>
                  <a:srgbClr val="00A896"/>
                </a:solidFill>
                <a:latin typeface="Calibri" pitchFamily="34" charset="0"/>
                <a:ea typeface="Calibri" pitchFamily="34" charset="-122"/>
                <a:cs typeface="Calibri" pitchFamily="34" charset="-120"/>
              </a:rPr>
              <a:t>How much water a job takes, and how many jobs fit in the tank</a:t>
            </a:r>
            <a:endParaRPr lang="en-US" sz="2200" dirty="0"/>
          </a:p>
        </p:txBody>
      </p:sp>
      <p:sp>
        <p:nvSpPr>
          <p:cNvPr id="4" name="Text 2"/>
          <p:cNvSpPr txBox="1"/>
          <p:nvPr/>
        </p:nvSpPr>
        <p:spPr>
          <a:xfrm>
            <a:off x="640080" y="3977640"/>
            <a:ext cx="5486400" cy="365760"/>
          </a:xfrm>
          <a:prstGeom prst="rect">
            <a:avLst/>
          </a:prstGeom>
          <a:noFill/>
          <a:ln/>
        </p:spPr>
        <p:txBody>
          <a:bodyPr wrap="square" lIns="0" tIns="0" rIns="0" bIns="0" rtlCol="0" anchor="ctr"/>
          <a:lstStyle/>
          <a:p>
            <a:pPr indent="0" marL="0">
              <a:buNone/>
            </a:pPr>
            <a:r>
              <a:rPr lang="en-US" sz="1800" dirty="0">
                <a:solidFill>
                  <a:srgbClr val="9FB6C0"/>
                </a:solidFill>
                <a:latin typeface="Calibri" pitchFamily="34" charset="0"/>
                <a:ea typeface="Calibri" pitchFamily="34" charset="-122"/>
                <a:cs typeface="Calibri" pitchFamily="34" charset="-120"/>
              </a:rPr>
              <a:t>Module A7  ·  Doorstep, Track A</a:t>
            </a:r>
            <a:endParaRPr lang="en-US" sz="1800" dirty="0"/>
          </a:p>
        </p:txBody>
      </p:sp>
      <p:sp>
        <p:nvSpPr>
          <p:cNvPr id="5" name="Text 3"/>
          <p:cNvSpPr txBox="1"/>
          <p:nvPr/>
        </p:nvSpPr>
        <p:spPr>
          <a:xfrm>
            <a:off x="640080" y="4389120"/>
            <a:ext cx="10881360" cy="36576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Naman Kumar  ·  Ranu Raj  ·  Vansh Rana  ·  Priyanshu  ·  Rudransh</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2B3A"/>
        </a:solidFill>
      </p:bgPr>
    </p:bg>
    <p:spTree>
      <p:nvGrpSpPr>
        <p:cNvPr id="1" name=""/>
        <p:cNvGrpSpPr/>
        <p:nvPr/>
      </p:nvGrpSpPr>
      <p:grpSpPr>
        <a:xfrm>
          <a:off x="0" y="0"/>
          <a:ext cx="0" cy="0"/>
          <a:chOff x="0" y="0"/>
          <a:chExt cx="0" cy="0"/>
        </a:xfrm>
      </p:grpSpPr>
      <p:sp>
        <p:nvSpPr>
          <p:cNvPr id="2" name="Text 0"/>
          <p:cNvSpPr txBox="1"/>
          <p:nvPr/>
        </p:nvSpPr>
        <p:spPr>
          <a:xfrm>
            <a:off x="640080" y="914400"/>
            <a:ext cx="1088136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The van carries its own water</a:t>
            </a:r>
            <a:endParaRPr lang="en-US" sz="4000" dirty="0"/>
          </a:p>
        </p:txBody>
      </p:sp>
      <p:sp>
        <p:nvSpPr>
          <p:cNvPr id="3" name="Text 1"/>
          <p:cNvSpPr txBox="1"/>
          <p:nvPr/>
        </p:nvSpPr>
        <p:spPr>
          <a:xfrm>
            <a:off x="640080" y="1874520"/>
            <a:ext cx="6583680" cy="1280160"/>
          </a:xfrm>
          <a:prstGeom prst="rect">
            <a:avLst/>
          </a:prstGeom>
          <a:noFill/>
          <a:ln/>
        </p:spPr>
        <p:txBody>
          <a:bodyPr wrap="square" lIns="0" tIns="0" rIns="0" bIns="0" rtlCol="0" anchor="ctr"/>
          <a:lstStyle/>
          <a:p>
            <a:pPr indent="0" marL="0">
              <a:lnSpc>
                <a:spcPts val="3200"/>
              </a:lnSpc>
              <a:buNone/>
            </a:pPr>
            <a:r>
              <a:rPr lang="en-US" sz="2200" dirty="0">
                <a:solidFill>
                  <a:srgbClr val="CFE2E9"/>
                </a:solidFill>
                <a:latin typeface="Calibri" pitchFamily="34" charset="0"/>
                <a:ea typeface="Calibri" pitchFamily="34" charset="-122"/>
                <a:cs typeface="Calibri" pitchFamily="34" charset="-120"/>
              </a:rPr>
              <a:t>Run out at job six and the rest of the day is cancelled.</a:t>
            </a:r>
            <a:endParaRPr lang="en-US" sz="2200" dirty="0"/>
          </a:p>
          <a:p>
            <a:pPr indent="0" marL="0">
              <a:lnSpc>
                <a:spcPts val="3200"/>
              </a:lnSpc>
              <a:buNone/>
            </a:pPr>
            <a:r>
              <a:rPr lang="en-US" sz="2200" dirty="0">
                <a:solidFill>
                  <a:srgbClr val="CFE2E9"/>
                </a:solidFill>
                <a:latin typeface="Calibri" pitchFamily="34" charset="0"/>
                <a:ea typeface="Calibri" pitchFamily="34" charset="-122"/>
                <a:cs typeface="Calibri" pitchFamily="34" charset="-120"/>
              </a:rPr>
              <a:t>Capacity, not demand, is what bounds a crew's day.</a:t>
            </a:r>
            <a:endParaRPr lang="en-US" sz="2200" dirty="0"/>
          </a:p>
        </p:txBody>
      </p:sp>
      <p:sp>
        <p:nvSpPr>
          <p:cNvPr id="4" name="Text 2"/>
          <p:cNvSpPr txBox="1"/>
          <p:nvPr/>
        </p:nvSpPr>
        <p:spPr>
          <a:xfrm>
            <a:off x="640080" y="3474720"/>
            <a:ext cx="3108960" cy="914400"/>
          </a:xfrm>
          <a:prstGeom prst="rect">
            <a:avLst/>
          </a:prstGeom>
          <a:noFill/>
          <a:ln/>
        </p:spPr>
        <p:txBody>
          <a:bodyPr wrap="square" lIns="0" tIns="0" rIns="0" bIns="0" rtlCol="0" anchor="ctr"/>
          <a:lstStyle/>
          <a:p>
            <a:pPr indent="0" marL="0">
              <a:buNone/>
            </a:pPr>
            <a:r>
              <a:rPr lang="en-US" sz="6000" b="1" dirty="0">
                <a:solidFill>
                  <a:srgbClr val="00A896"/>
                </a:solidFill>
                <a:latin typeface="Cambria" pitchFamily="34" charset="0"/>
                <a:ea typeface="Cambria" pitchFamily="34" charset="-122"/>
                <a:cs typeface="Cambria" pitchFamily="34" charset="-120"/>
              </a:rPr>
              <a:t>262 L</a:t>
            </a:r>
            <a:endParaRPr lang="en-US" sz="6000" dirty="0"/>
          </a:p>
        </p:txBody>
      </p:sp>
      <p:sp>
        <p:nvSpPr>
          <p:cNvPr id="5" name="Text 3"/>
          <p:cNvSpPr txBox="1"/>
          <p:nvPr/>
        </p:nvSpPr>
        <p:spPr>
          <a:xfrm>
            <a:off x="640080" y="4407408"/>
            <a:ext cx="3108960" cy="777240"/>
          </a:xfrm>
          <a:prstGeom prst="rect">
            <a:avLst/>
          </a:prstGeom>
          <a:noFill/>
          <a:ln/>
        </p:spPr>
        <p:txBody>
          <a:bodyPr wrap="square" lIns="0" tIns="0" rIns="0" bIns="0" rtlCol="0" anchor="ctr"/>
          <a:lstStyle/>
          <a:p>
            <a:pPr indent="0" marL="0">
              <a:buNone/>
            </a:pPr>
            <a:r>
              <a:rPr lang="en-US" sz="1800" dirty="0">
                <a:solidFill>
                  <a:srgbClr val="5A6B73"/>
                </a:solidFill>
                <a:latin typeface="Calibri" pitchFamily="34" charset="0"/>
                <a:ea typeface="Calibri" pitchFamily="34" charset="-122"/>
                <a:cs typeface="Calibri" pitchFamily="34" charset="-120"/>
              </a:rPr>
              <a:t>average water drawn per crew-day</a:t>
            </a:r>
            <a:endParaRPr lang="en-US" sz="1800" dirty="0"/>
          </a:p>
        </p:txBody>
      </p:sp>
      <p:sp>
        <p:nvSpPr>
          <p:cNvPr id="6" name="Text 4"/>
          <p:cNvSpPr txBox="1"/>
          <p:nvPr/>
        </p:nvSpPr>
        <p:spPr>
          <a:xfrm>
            <a:off x="4480560" y="3474720"/>
            <a:ext cx="3108960" cy="914400"/>
          </a:xfrm>
          <a:prstGeom prst="rect">
            <a:avLst/>
          </a:prstGeom>
          <a:noFill/>
          <a:ln/>
        </p:spPr>
        <p:txBody>
          <a:bodyPr wrap="square" lIns="0" tIns="0" rIns="0" bIns="0" rtlCol="0" anchor="ctr"/>
          <a:lstStyle/>
          <a:p>
            <a:pPr indent="0" marL="0">
              <a:buNone/>
            </a:pPr>
            <a:r>
              <a:rPr lang="en-US" sz="6000" b="1" dirty="0">
                <a:solidFill>
                  <a:srgbClr val="00A896"/>
                </a:solidFill>
                <a:latin typeface="Cambria" pitchFamily="34" charset="0"/>
                <a:ea typeface="Cambria" pitchFamily="34" charset="-122"/>
                <a:cs typeface="Cambria" pitchFamily="34" charset="-120"/>
              </a:rPr>
              <a:t>200–350 L</a:t>
            </a:r>
            <a:endParaRPr lang="en-US" sz="6000" dirty="0"/>
          </a:p>
        </p:txBody>
      </p:sp>
      <p:sp>
        <p:nvSpPr>
          <p:cNvPr id="7" name="Text 5"/>
          <p:cNvSpPr txBox="1"/>
          <p:nvPr/>
        </p:nvSpPr>
        <p:spPr>
          <a:xfrm>
            <a:off x="4480560" y="4407408"/>
            <a:ext cx="3108960" cy="777240"/>
          </a:xfrm>
          <a:prstGeom prst="rect">
            <a:avLst/>
          </a:prstGeom>
          <a:noFill/>
          <a:ln/>
        </p:spPr>
        <p:txBody>
          <a:bodyPr wrap="square" lIns="0" tIns="0" rIns="0" bIns="0" rtlCol="0" anchor="ctr"/>
          <a:lstStyle/>
          <a:p>
            <a:pPr indent="0" marL="0">
              <a:buNone/>
            </a:pPr>
            <a:r>
              <a:rPr lang="en-US" sz="1800" dirty="0">
                <a:solidFill>
                  <a:srgbClr val="5A6B73"/>
                </a:solidFill>
                <a:latin typeface="Calibri" pitchFamily="34" charset="0"/>
                <a:ea typeface="Calibri" pitchFamily="34" charset="-122"/>
                <a:cs typeface="Calibri" pitchFamily="34" charset="-120"/>
              </a:rPr>
              <a:t>tank capacity across the fleet</a:t>
            </a:r>
            <a:endParaRPr lang="en-US" sz="1800" dirty="0"/>
          </a:p>
        </p:txBody>
      </p:sp>
      <p:sp>
        <p:nvSpPr>
          <p:cNvPr id="8" name="Text 6"/>
          <p:cNvSpPr txBox="1"/>
          <p:nvPr/>
        </p:nvSpPr>
        <p:spPr>
          <a:xfrm>
            <a:off x="8321040" y="3474720"/>
            <a:ext cx="3291840" cy="914400"/>
          </a:xfrm>
          <a:prstGeom prst="rect">
            <a:avLst/>
          </a:prstGeom>
          <a:noFill/>
          <a:ln/>
        </p:spPr>
        <p:txBody>
          <a:bodyPr wrap="square" lIns="0" tIns="0" rIns="0" bIns="0" rtlCol="0" anchor="ctr"/>
          <a:lstStyle/>
          <a:p>
            <a:pPr indent="0" marL="0">
              <a:buNone/>
            </a:pPr>
            <a:r>
              <a:rPr lang="en-US" sz="6000" b="1" dirty="0">
                <a:solidFill>
                  <a:srgbClr val="D9532B"/>
                </a:solidFill>
                <a:latin typeface="Cambria" pitchFamily="34" charset="0"/>
                <a:ea typeface="Cambria" pitchFamily="34" charset="-122"/>
                <a:cs typeface="Cambria" pitchFamily="34" charset="-120"/>
              </a:rPr>
              <a:t>61%</a:t>
            </a:r>
            <a:endParaRPr lang="en-US" sz="6000" dirty="0"/>
          </a:p>
        </p:txBody>
      </p:sp>
      <p:sp>
        <p:nvSpPr>
          <p:cNvPr id="9" name="Text 7"/>
          <p:cNvSpPr txBox="1"/>
          <p:nvPr/>
        </p:nvSpPr>
        <p:spPr>
          <a:xfrm>
            <a:off x="8321040" y="4407408"/>
            <a:ext cx="3291840" cy="777240"/>
          </a:xfrm>
          <a:prstGeom prst="rect">
            <a:avLst/>
          </a:prstGeom>
          <a:noFill/>
          <a:ln/>
        </p:spPr>
        <p:txBody>
          <a:bodyPr wrap="square" lIns="0" tIns="0" rIns="0" bIns="0" rtlCol="0" anchor="ctr"/>
          <a:lstStyle/>
          <a:p>
            <a:pPr indent="0" marL="0">
              <a:buNone/>
            </a:pPr>
            <a:r>
              <a:rPr lang="en-US" sz="1800" dirty="0">
                <a:solidFill>
                  <a:srgbClr val="5A6B73"/>
                </a:solidFill>
                <a:latin typeface="Calibri" pitchFamily="34" charset="0"/>
                <a:ea typeface="Calibri" pitchFamily="34" charset="-122"/>
                <a:cs typeface="Calibri" pitchFamily="34" charset="-120"/>
              </a:rPr>
              <a:t>of crew-days exceed the small van</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800" b="1" spc="150" kern="0" dirty="0">
                <a:solidFill>
                  <a:srgbClr val="00A896"/>
                </a:solidFill>
                <a:latin typeface="Calibri" pitchFamily="34" charset="0"/>
                <a:ea typeface="Calibri" pitchFamily="34" charset="-122"/>
                <a:cs typeface="Calibri" pitchFamily="34" charset="-120"/>
              </a:rPr>
              <a:t>FINDING 1</a:t>
            </a:r>
            <a:endParaRPr lang="en-US" sz="1800" dirty="0"/>
          </a:p>
        </p:txBody>
      </p:sp>
      <p:sp>
        <p:nvSpPr>
          <p:cNvPr id="3" name="Text 1"/>
          <p:cNvSpPr txBox="1"/>
          <p:nvPr/>
        </p:nvSpPr>
        <p:spPr>
          <a:xfrm>
            <a:off x="640080" y="713232"/>
            <a:ext cx="10881360" cy="868680"/>
          </a:xfrm>
          <a:prstGeom prst="rect">
            <a:avLst/>
          </a:prstGeom>
          <a:noFill/>
          <a:ln/>
        </p:spPr>
        <p:txBody>
          <a:bodyPr wrap="square" lIns="0" tIns="0" rIns="0" bIns="0" rtlCol="0" anchor="ctr"/>
          <a:lstStyle/>
          <a:p>
            <a:pPr indent="0" marL="0">
              <a:buNone/>
            </a:pPr>
            <a:r>
              <a:rPr lang="en-US" sz="3800" b="1" dirty="0">
                <a:solidFill>
                  <a:srgbClr val="0B2B3A"/>
                </a:solidFill>
                <a:latin typeface="Cambria" pitchFamily="34" charset="0"/>
                <a:ea typeface="Cambria" pitchFamily="34" charset="-122"/>
                <a:cs typeface="Cambria" pitchFamily="34" charset="-120"/>
              </a:rPr>
              <a:t>The service tier tells you nothing</a:t>
            </a:r>
            <a:endParaRPr lang="en-US" sz="3800" dirty="0"/>
          </a:p>
        </p:txBody>
      </p:sp>
      <p:sp>
        <p:nvSpPr>
          <p:cNvPr id="4" name="Text 2"/>
          <p:cNvSpPr txBox="1"/>
          <p:nvPr/>
        </p:nvSpPr>
        <p:spPr>
          <a:xfrm>
            <a:off x="640080" y="1691640"/>
            <a:ext cx="4937760" cy="1371600"/>
          </a:xfrm>
          <a:prstGeom prst="rect">
            <a:avLst/>
          </a:prstGeom>
          <a:noFill/>
          <a:ln/>
        </p:spPr>
        <p:txBody>
          <a:bodyPr wrap="square" lIns="0" tIns="0" rIns="0" bIns="0" rtlCol="0" anchor="ctr"/>
          <a:lstStyle/>
          <a:p>
            <a:pPr indent="0" marL="0">
              <a:lnSpc>
                <a:spcPts val="2800"/>
              </a:lnSpc>
              <a:buNone/>
            </a:pPr>
            <a:r>
              <a:rPr lang="en-US" sz="1900" dirty="0">
                <a:solidFill>
                  <a:srgbClr val="0B2B3A"/>
                </a:solidFill>
                <a:latin typeface="Calibri" pitchFamily="34" charset="0"/>
                <a:ea typeface="Calibri" pitchFamily="34" charset="-122"/>
                <a:cs typeface="Calibri" pitchFamily="34" charset="-120"/>
              </a:rPr>
              <a:t>All five slot types average 54.9–55.8 L. The real driver is an add-on hidden inside a pipe-separated item string.</a:t>
            </a:r>
            <a:endParaRPr lang="en-US" sz="1900" dirty="0"/>
          </a:p>
        </p:txBody>
      </p:sp>
      <p:sp>
        <p:nvSpPr>
          <p:cNvPr id="5" name="Shape 3"/>
          <p:cNvSpPr/>
          <p:nvPr/>
        </p:nvSpPr>
        <p:spPr>
          <a:xfrm>
            <a:off x="640080" y="3200400"/>
            <a:ext cx="4937760" cy="2103120"/>
          </a:xfrm>
          <a:prstGeom prst="roundRect">
            <a:avLst>
              <a:gd name="adj" fmla="val 3478"/>
            </a:avLst>
          </a:prstGeom>
          <a:solidFill>
            <a:srgbClr val="EAF2F5"/>
          </a:solidFill>
          <a:ln w="12700">
            <a:solidFill>
              <a:srgbClr val="EAF2F5"/>
            </a:solidFill>
            <a:prstDash val="solid"/>
          </a:ln>
        </p:spPr>
      </p:sp>
      <p:sp>
        <p:nvSpPr>
          <p:cNvPr id="6" name="Text 4"/>
          <p:cNvSpPr txBox="1"/>
          <p:nvPr/>
        </p:nvSpPr>
        <p:spPr>
          <a:xfrm>
            <a:off x="914400" y="3383280"/>
            <a:ext cx="4389120" cy="365760"/>
          </a:xfrm>
          <a:prstGeom prst="rect">
            <a:avLst/>
          </a:prstGeom>
          <a:noFill/>
          <a:ln/>
        </p:spPr>
        <p:txBody>
          <a:bodyPr wrap="square" lIns="0" tIns="0" rIns="0" bIns="0" rtlCol="0" anchor="ctr"/>
          <a:lstStyle/>
          <a:p>
            <a:pPr indent="0" marL="0">
              <a:buNone/>
            </a:pPr>
            <a:r>
              <a:rPr lang="en-US" sz="2000" b="1" dirty="0">
                <a:solidFill>
                  <a:srgbClr val="065A82"/>
                </a:solidFill>
                <a:latin typeface="Calibri" pitchFamily="34" charset="0"/>
                <a:ea typeface="Calibri" pitchFamily="34" charset="-122"/>
                <a:cs typeface="Calibri" pitchFamily="34" charset="-120"/>
              </a:rPr>
              <a:t>interior_clean</a:t>
            </a:r>
            <a:endParaRPr lang="en-US" sz="2000" dirty="0"/>
          </a:p>
        </p:txBody>
      </p:sp>
      <p:sp>
        <p:nvSpPr>
          <p:cNvPr id="7" name="Text 5"/>
          <p:cNvSpPr txBox="1"/>
          <p:nvPr/>
        </p:nvSpPr>
        <p:spPr>
          <a:xfrm>
            <a:off x="914400" y="3840480"/>
            <a:ext cx="4389120" cy="1188720"/>
          </a:xfrm>
          <a:prstGeom prst="rect">
            <a:avLst/>
          </a:prstGeom>
          <a:noFill/>
          <a:ln/>
        </p:spPr>
        <p:txBody>
          <a:bodyPr wrap="square" lIns="0" tIns="0" rIns="0" bIns="0" rtlCol="0" anchor="ctr"/>
          <a:lstStyle/>
          <a:p>
            <a:pPr indent="0" marL="0">
              <a:lnSpc>
                <a:spcPts val="2600"/>
              </a:lnSpc>
              <a:buNone/>
            </a:pPr>
            <a:r>
              <a:rPr lang="en-US" sz="1800" dirty="0">
                <a:solidFill>
                  <a:srgbClr val="0B2B3A"/>
                </a:solidFill>
                <a:latin typeface="Calibri" pitchFamily="34" charset="0"/>
                <a:ea typeface="Calibri" pitchFamily="34" charset="-122"/>
                <a:cs typeface="Calibri" pitchFamily="34" charset="-120"/>
              </a:rPr>
              <a:t>27.9% of jobs  ·  +18.0 L  ·  sold across every tier</a:t>
            </a:r>
            <a:endParaRPr lang="en-US" sz="1800" dirty="0"/>
          </a:p>
          <a:p>
            <a:pPr indent="0" marL="0">
              <a:lnSpc>
                <a:spcPts val="2600"/>
              </a:lnSpc>
              <a:buNone/>
            </a:pPr>
            <a:r>
              <a:rPr lang="en-US" sz="1800" dirty="0">
                <a:solidFill>
                  <a:srgbClr val="0B2B3A"/>
                </a:solidFill>
                <a:latin typeface="Calibri" pitchFamily="34" charset="0"/>
                <a:ea typeface="Calibri" pitchFamily="34" charset="-122"/>
                <a:cs typeface="Calibri" pitchFamily="34" charset="-120"/>
              </a:rPr>
              <a:t>Parsed from bookings.items, not a column of its own</a:t>
            </a:r>
            <a:endParaRPr lang="en-US" sz="1800" dirty="0"/>
          </a:p>
        </p:txBody>
      </p:sp>
      <p:pic>
        <p:nvPicPr>
          <p:cNvPr id="8" name="Image 0" descr="C:\Users\naman\OneDrive\Documents\doorstep-A07-water-supplies\results\plots\02_slot_type_vs_addon.png">    </p:cNvPr>
          <p:cNvPicPr>
            <a:picLocks noChangeAspect="1"/>
          </p:cNvPicPr>
          <p:nvPr/>
        </p:nvPicPr>
        <p:blipFill>
          <a:blip r:embed="rId1"/>
          <a:stretch>
            <a:fillRect/>
          </a:stretch>
        </p:blipFill>
        <p:spPr>
          <a:xfrm>
            <a:off x="5943600" y="1645920"/>
            <a:ext cx="5577840" cy="37490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800" b="1" spc="150" kern="0" dirty="0">
                <a:solidFill>
                  <a:srgbClr val="00A896"/>
                </a:solidFill>
                <a:latin typeface="Calibri" pitchFamily="34" charset="0"/>
                <a:ea typeface="Calibri" pitchFamily="34" charset="-122"/>
                <a:cs typeface="Calibri" pitchFamily="34" charset="-120"/>
              </a:rPr>
              <a:t>FINDING 2</a:t>
            </a:r>
            <a:endParaRPr lang="en-US" sz="1800" dirty="0"/>
          </a:p>
        </p:txBody>
      </p:sp>
      <p:sp>
        <p:nvSpPr>
          <p:cNvPr id="3" name="Text 1"/>
          <p:cNvSpPr txBox="1"/>
          <p:nvPr/>
        </p:nvSpPr>
        <p:spPr>
          <a:xfrm>
            <a:off x="640080" y="713232"/>
            <a:ext cx="10881360" cy="868680"/>
          </a:xfrm>
          <a:prstGeom prst="rect">
            <a:avLst/>
          </a:prstGeom>
          <a:noFill/>
          <a:ln/>
        </p:spPr>
        <p:txBody>
          <a:bodyPr wrap="square" lIns="0" tIns="0" rIns="0" bIns="0" rtlCol="0" anchor="ctr"/>
          <a:lstStyle/>
          <a:p>
            <a:pPr indent="0" marL="0">
              <a:buNone/>
            </a:pPr>
            <a:r>
              <a:rPr lang="en-US" sz="3800" b="1" dirty="0">
                <a:solidFill>
                  <a:srgbClr val="0B2B3A"/>
                </a:solidFill>
                <a:latin typeface="Cambria" pitchFamily="34" charset="0"/>
                <a:ea typeface="Cambria" pitchFamily="34" charset="-122"/>
                <a:cs typeface="Cambria" pitchFamily="34" charset="-120"/>
              </a:rPr>
              <a:t>Dirtiness multiplies, the add-on adds</a:t>
            </a:r>
            <a:endParaRPr lang="en-US" sz="3800" dirty="0"/>
          </a:p>
        </p:txBody>
      </p:sp>
      <p:pic>
        <p:nvPicPr>
          <p:cNvPr id="4" name="Image 0" descr="C:\Users\naman\OneDrive\Documents\doorstep-A07-water-supplies\results\plots\03_functional_form.png">    </p:cNvPr>
          <p:cNvPicPr>
            <a:picLocks noChangeAspect="1"/>
          </p:cNvPicPr>
          <p:nvPr/>
        </p:nvPicPr>
        <p:blipFill>
          <a:blip r:embed="rId1"/>
          <a:stretch>
            <a:fillRect/>
          </a:stretch>
        </p:blipFill>
        <p:spPr>
          <a:xfrm>
            <a:off x="640080" y="1691640"/>
            <a:ext cx="5852160" cy="3840480"/>
          </a:xfrm>
          <a:prstGeom prst="rect">
            <a:avLst/>
          </a:prstGeom>
        </p:spPr>
      </p:pic>
      <p:sp>
        <p:nvSpPr>
          <p:cNvPr id="5" name="Text 2"/>
          <p:cNvSpPr txBox="1"/>
          <p:nvPr/>
        </p:nvSpPr>
        <p:spPr>
          <a:xfrm>
            <a:off x="6858000" y="1783080"/>
            <a:ext cx="4663440" cy="731520"/>
          </a:xfrm>
          <a:prstGeom prst="rect">
            <a:avLst/>
          </a:prstGeom>
          <a:noFill/>
          <a:ln/>
        </p:spPr>
        <p:txBody>
          <a:bodyPr wrap="square" lIns="0" tIns="0" rIns="0" bIns="0" rtlCol="0" anchor="ctr"/>
          <a:lstStyle/>
          <a:p>
            <a:pPr indent="0" marL="0">
              <a:lnSpc>
                <a:spcPts val="2600"/>
              </a:lnSpc>
              <a:buNone/>
            </a:pPr>
            <a:r>
              <a:rPr lang="en-US" sz="1900" dirty="0">
                <a:solidFill>
                  <a:srgbClr val="0B2B3A"/>
                </a:solidFill>
                <a:latin typeface="Calibri" pitchFamily="34" charset="0"/>
                <a:ea typeface="Calibri" pitchFamily="34" charset="-122"/>
                <a:cs typeface="Calibri" pitchFamily="34" charset="-120"/>
              </a:rPr>
              <a:t>Dirtiness scales a vehicle-size base by the same factors for every size:</a:t>
            </a:r>
            <a:endParaRPr lang="en-US" sz="1900" dirty="0"/>
          </a:p>
        </p:txBody>
      </p:sp>
      <p:sp>
        <p:nvSpPr>
          <p:cNvPr id="6" name="Text 3"/>
          <p:cNvSpPr txBox="1"/>
          <p:nvPr/>
        </p:nvSpPr>
        <p:spPr>
          <a:xfrm>
            <a:off x="6858000" y="2606040"/>
            <a:ext cx="4663440" cy="548640"/>
          </a:xfrm>
          <a:prstGeom prst="rect">
            <a:avLst/>
          </a:prstGeom>
          <a:noFill/>
          <a:ln/>
        </p:spPr>
        <p:txBody>
          <a:bodyPr wrap="square" lIns="0" tIns="0" rIns="0" bIns="0" rtlCol="0" anchor="ctr"/>
          <a:lstStyle/>
          <a:p>
            <a:pPr indent="0" marL="0">
              <a:buNone/>
            </a:pPr>
            <a:r>
              <a:rPr lang="en-US" sz="2600" b="1" dirty="0">
                <a:solidFill>
                  <a:srgbClr val="065A82"/>
                </a:solidFill>
                <a:latin typeface="Cambria" pitchFamily="34" charset="0"/>
                <a:ea typeface="Cambria" pitchFamily="34" charset="-122"/>
                <a:cs typeface="Cambria" pitchFamily="34" charset="-120"/>
              </a:rPr>
              <a:t>1.00   ·   1.18   ·   1.35   ·   1.53</a:t>
            </a:r>
            <a:endParaRPr lang="en-US" sz="2600" dirty="0"/>
          </a:p>
        </p:txBody>
      </p:sp>
      <p:sp>
        <p:nvSpPr>
          <p:cNvPr id="7" name="Text 4"/>
          <p:cNvSpPr txBox="1"/>
          <p:nvPr/>
        </p:nvSpPr>
        <p:spPr>
          <a:xfrm>
            <a:off x="6858000" y="3383280"/>
            <a:ext cx="4663440" cy="2103120"/>
          </a:xfrm>
          <a:prstGeom prst="rect">
            <a:avLst/>
          </a:prstGeom>
          <a:noFill/>
          <a:ln/>
        </p:spPr>
        <p:txBody>
          <a:bodyPr wrap="square" lIns="0" tIns="0" rIns="0" bIns="0" rtlCol="0" anchor="ctr"/>
          <a:lstStyle/>
          <a:p>
            <a:pPr indent="0" marL="0">
              <a:lnSpc>
                <a:spcPts val="2800"/>
              </a:lnSpc>
              <a:buNone/>
            </a:pPr>
            <a:r>
              <a:rPr lang="en-US" sz="1900" dirty="0">
                <a:solidFill>
                  <a:srgbClr val="0B2B3A"/>
                </a:solidFill>
                <a:latin typeface="Calibri" pitchFamily="34" charset="0"/>
                <a:ea typeface="Calibri" pitchFamily="34" charset="-122"/>
                <a:cs typeface="Calibri" pitchFamily="34" charset="-120"/>
              </a:rPr>
              <a:t>The interior add-on contributes a flat +18 L regardless of size or dirtiness.</a:t>
            </a:r>
            <a:endParaRPr lang="en-US" sz="1900" dirty="0"/>
          </a:p>
          <a:p>
            <a:pPr indent="0" marL="0">
              <a:lnSpc>
                <a:spcPts val="2800"/>
              </a:lnSpc>
              <a:buNone/>
            </a:pPr>
            <a:endParaRPr lang="en-US" sz="1900" dirty="0"/>
          </a:p>
          <a:p>
            <a:pPr indent="0" marL="0">
              <a:lnSpc>
                <a:spcPts val="2800"/>
              </a:lnSpc>
              <a:buNone/>
            </a:pPr>
            <a:r>
              <a:rPr lang="en-US" sz="1900" dirty="0">
                <a:solidFill>
                  <a:srgbClr val="0B2B3A"/>
                </a:solidFill>
                <a:latin typeface="Calibri" pitchFamily="34" charset="0"/>
                <a:ea typeface="Calibri" pitchFamily="34" charset="-122"/>
                <a:cs typeface="Calibri" pitchFamily="34" charset="-120"/>
              </a:rPr>
              <a:t>So a purely additive linear model is mis-specified — it needs a size × dirtiness interaction.</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800" b="1" spc="150" kern="0" dirty="0">
                <a:solidFill>
                  <a:srgbClr val="00A896"/>
                </a:solidFill>
                <a:latin typeface="Calibri" pitchFamily="34" charset="0"/>
                <a:ea typeface="Calibri" pitchFamily="34" charset="-122"/>
                <a:cs typeface="Calibri" pitchFamily="34" charset="-120"/>
              </a:rPr>
              <a:t>THE CONSTRAINT</a:t>
            </a:r>
            <a:endParaRPr lang="en-US" sz="1800" dirty="0"/>
          </a:p>
        </p:txBody>
      </p:sp>
      <p:sp>
        <p:nvSpPr>
          <p:cNvPr id="3" name="Text 1"/>
          <p:cNvSpPr txBox="1"/>
          <p:nvPr/>
        </p:nvSpPr>
        <p:spPr>
          <a:xfrm>
            <a:off x="640080" y="713232"/>
            <a:ext cx="10881360" cy="868680"/>
          </a:xfrm>
          <a:prstGeom prst="rect">
            <a:avLst/>
          </a:prstGeom>
          <a:noFill/>
          <a:ln/>
        </p:spPr>
        <p:txBody>
          <a:bodyPr wrap="square" lIns="0" tIns="0" rIns="0" bIns="0" rtlCol="0" anchor="ctr"/>
          <a:lstStyle/>
          <a:p>
            <a:pPr indent="0" marL="0">
              <a:buNone/>
            </a:pPr>
            <a:r>
              <a:rPr lang="en-US" sz="3800" b="1" dirty="0">
                <a:solidFill>
                  <a:srgbClr val="0B2B3A"/>
                </a:solidFill>
                <a:latin typeface="Cambria" pitchFamily="34" charset="0"/>
                <a:ea typeface="Cambria" pitchFamily="34" charset="-122"/>
                <a:cs typeface="Cambria" pitchFamily="34" charset="-120"/>
              </a:rPr>
              <a:t>The best predictor arrives too late</a:t>
            </a:r>
            <a:endParaRPr lang="en-US" sz="3800" dirty="0"/>
          </a:p>
        </p:txBody>
      </p:sp>
      <p:sp>
        <p:nvSpPr>
          <p:cNvPr id="4" name="Text 2"/>
          <p:cNvSpPr txBox="1"/>
          <p:nvPr/>
        </p:nvSpPr>
        <p:spPr>
          <a:xfrm>
            <a:off x="640080" y="1737360"/>
            <a:ext cx="10881360" cy="914400"/>
          </a:xfrm>
          <a:prstGeom prst="rect">
            <a:avLst/>
          </a:prstGeom>
          <a:noFill/>
          <a:ln/>
        </p:spPr>
        <p:txBody>
          <a:bodyPr wrap="square" lIns="0" tIns="0" rIns="0" bIns="0" rtlCol="0" anchor="ctr"/>
          <a:lstStyle/>
          <a:p>
            <a:pPr indent="0" marL="0">
              <a:lnSpc>
                <a:spcPts val="2800"/>
              </a:lnSpc>
              <a:buNone/>
            </a:pPr>
            <a:r>
              <a:rPr lang="en-US" sz="2000" dirty="0">
                <a:solidFill>
                  <a:srgbClr val="0B2B3A"/>
                </a:solidFill>
                <a:latin typeface="Calibri" pitchFamily="34" charset="0"/>
                <a:ea typeface="Calibri" pitchFamily="34" charset="-122"/>
                <a:cs typeface="Calibri" pitchFamily="34" charset="-120"/>
              </a:rPr>
              <a:t>dirtiness_level is recorded when the crew reaches the car. Nothing at booking time predicts it — not rain, not temperature, not the customer's history.</a:t>
            </a:r>
            <a:endParaRPr lang="en-US" sz="2000" dirty="0"/>
          </a:p>
        </p:txBody>
      </p:sp>
      <p:sp>
        <p:nvSpPr>
          <p:cNvPr id="5" name="Shape 3"/>
          <p:cNvSpPr/>
          <p:nvPr/>
        </p:nvSpPr>
        <p:spPr>
          <a:xfrm>
            <a:off x="640080" y="2834640"/>
            <a:ext cx="5212080" cy="2651760"/>
          </a:xfrm>
          <a:prstGeom prst="roundRect">
            <a:avLst>
              <a:gd name="adj" fmla="val 2759"/>
            </a:avLst>
          </a:prstGeom>
          <a:solidFill>
            <a:srgbClr val="EAF2F5"/>
          </a:solidFill>
          <a:ln w="12700">
            <a:solidFill>
              <a:srgbClr val="EAF2F5"/>
            </a:solidFill>
            <a:prstDash val="solid"/>
          </a:ln>
        </p:spPr>
      </p:sp>
      <p:sp>
        <p:nvSpPr>
          <p:cNvPr id="6" name="Text 4"/>
          <p:cNvSpPr txBox="1"/>
          <p:nvPr/>
        </p:nvSpPr>
        <p:spPr>
          <a:xfrm>
            <a:off x="960120" y="3063240"/>
            <a:ext cx="4572000" cy="320040"/>
          </a:xfrm>
          <a:prstGeom prst="rect">
            <a:avLst/>
          </a:prstGeom>
          <a:noFill/>
          <a:ln/>
        </p:spPr>
        <p:txBody>
          <a:bodyPr wrap="square" lIns="0" tIns="0" rIns="0" bIns="0" rtlCol="0" anchor="ctr"/>
          <a:lstStyle/>
          <a:p>
            <a:pPr indent="0" marL="0">
              <a:buNone/>
            </a:pPr>
            <a:r>
              <a:rPr lang="en-US" sz="1800" b="1" spc="120" kern="0" dirty="0">
                <a:solidFill>
                  <a:srgbClr val="065A82"/>
                </a:solidFill>
                <a:latin typeface="Calibri" pitchFamily="34" charset="0"/>
                <a:ea typeface="Calibri" pitchFamily="34" charset="-122"/>
                <a:cs typeface="Calibri" pitchFamily="34" charset="-120"/>
              </a:rPr>
              <a:t>PLANNING MODEL</a:t>
            </a:r>
            <a:endParaRPr lang="en-US" sz="1800" dirty="0"/>
          </a:p>
        </p:txBody>
      </p:sp>
      <p:sp>
        <p:nvSpPr>
          <p:cNvPr id="7" name="Text 5"/>
          <p:cNvSpPr txBox="1"/>
          <p:nvPr/>
        </p:nvSpPr>
        <p:spPr>
          <a:xfrm>
            <a:off x="960120" y="3456432"/>
            <a:ext cx="4572000" cy="365760"/>
          </a:xfrm>
          <a:prstGeom prst="rect">
            <a:avLst/>
          </a:prstGeom>
          <a:noFill/>
          <a:ln/>
        </p:spPr>
        <p:txBody>
          <a:bodyPr wrap="square" lIns="0" tIns="0" rIns="0" bIns="0" rtlCol="0" anchor="ctr"/>
          <a:lstStyle/>
          <a:p>
            <a:pPr indent="0" marL="0">
              <a:buNone/>
            </a:pPr>
            <a:r>
              <a:rPr lang="en-US" sz="1900" dirty="0">
                <a:solidFill>
                  <a:srgbClr val="0B2B3A"/>
                </a:solidFill>
                <a:latin typeface="Calibri" pitchFamily="34" charset="0"/>
                <a:ea typeface="Calibri" pitchFamily="34" charset="-122"/>
                <a:cs typeface="Calibri" pitchFamily="34" charset="-120"/>
              </a:rPr>
              <a:t>vehicle size + interior_clean</a:t>
            </a:r>
            <a:endParaRPr lang="en-US" sz="1900" dirty="0"/>
          </a:p>
        </p:txBody>
      </p:sp>
      <p:sp>
        <p:nvSpPr>
          <p:cNvPr id="8" name="Text 6"/>
          <p:cNvSpPr txBox="1"/>
          <p:nvPr/>
        </p:nvSpPr>
        <p:spPr>
          <a:xfrm>
            <a:off x="960120" y="3931920"/>
            <a:ext cx="4572000" cy="731520"/>
          </a:xfrm>
          <a:prstGeom prst="rect">
            <a:avLst/>
          </a:prstGeom>
          <a:noFill/>
          <a:ln/>
        </p:spPr>
        <p:txBody>
          <a:bodyPr wrap="square" lIns="0" tIns="0" rIns="0" bIns="0" rtlCol="0" anchor="ctr"/>
          <a:lstStyle/>
          <a:p>
            <a:pPr indent="0" marL="0">
              <a:buNone/>
            </a:pPr>
            <a:r>
              <a:rPr lang="en-US" sz="4400" b="1" dirty="0">
                <a:solidFill>
                  <a:srgbClr val="065A82"/>
                </a:solidFill>
                <a:latin typeface="Cambria" pitchFamily="34" charset="0"/>
                <a:ea typeface="Cambria" pitchFamily="34" charset="-122"/>
                <a:cs typeface="Cambria" pitchFamily="34" charset="-120"/>
              </a:rPr>
              <a:t>5.90 L</a:t>
            </a:r>
            <a:endParaRPr lang="en-US" sz="4400" dirty="0"/>
          </a:p>
        </p:txBody>
      </p:sp>
      <p:sp>
        <p:nvSpPr>
          <p:cNvPr id="9" name="Text 7"/>
          <p:cNvSpPr txBox="1"/>
          <p:nvPr/>
        </p:nvSpPr>
        <p:spPr>
          <a:xfrm>
            <a:off x="960120" y="4709160"/>
            <a:ext cx="4572000" cy="640080"/>
          </a:xfrm>
          <a:prstGeom prst="rect">
            <a:avLst/>
          </a:prstGeom>
          <a:noFill/>
          <a:ln/>
        </p:spPr>
        <p:txBody>
          <a:bodyPr wrap="square" lIns="0" tIns="0" rIns="0" bIns="0" rtlCol="0" anchor="ctr"/>
          <a:lstStyle/>
          <a:p>
            <a:pPr indent="0" marL="0">
              <a:buNone/>
            </a:pPr>
            <a:r>
              <a:rPr lang="en-US" sz="1700" dirty="0">
                <a:solidFill>
                  <a:srgbClr val="5A6B73"/>
                </a:solidFill>
                <a:latin typeface="Calibri" pitchFamily="34" charset="0"/>
                <a:ea typeface="Calibri" pitchFamily="34" charset="-122"/>
                <a:cs typeface="Calibri" pitchFamily="34" charset="-120"/>
              </a:rPr>
              <a:t>mean absolute error — used for routing and quoting</a:t>
            </a:r>
            <a:endParaRPr lang="en-US" sz="1700" dirty="0"/>
          </a:p>
        </p:txBody>
      </p:sp>
      <p:sp>
        <p:nvSpPr>
          <p:cNvPr id="10" name="Shape 8"/>
          <p:cNvSpPr/>
          <p:nvPr/>
        </p:nvSpPr>
        <p:spPr>
          <a:xfrm>
            <a:off x="6400800" y="2834640"/>
            <a:ext cx="5120640" cy="2651760"/>
          </a:xfrm>
          <a:prstGeom prst="roundRect">
            <a:avLst>
              <a:gd name="adj" fmla="val 2759"/>
            </a:avLst>
          </a:prstGeom>
          <a:solidFill>
            <a:srgbClr val="EAF2F5"/>
          </a:solidFill>
          <a:ln w="12700">
            <a:solidFill>
              <a:srgbClr val="EAF2F5"/>
            </a:solidFill>
            <a:prstDash val="solid"/>
          </a:ln>
        </p:spPr>
      </p:sp>
      <p:sp>
        <p:nvSpPr>
          <p:cNvPr id="11" name="Text 9"/>
          <p:cNvSpPr txBox="1"/>
          <p:nvPr/>
        </p:nvSpPr>
        <p:spPr>
          <a:xfrm>
            <a:off x="6720840" y="3063240"/>
            <a:ext cx="4480560" cy="320040"/>
          </a:xfrm>
          <a:prstGeom prst="rect">
            <a:avLst/>
          </a:prstGeom>
          <a:noFill/>
          <a:ln/>
        </p:spPr>
        <p:txBody>
          <a:bodyPr wrap="square" lIns="0" tIns="0" rIns="0" bIns="0" rtlCol="0" anchor="ctr"/>
          <a:lstStyle/>
          <a:p>
            <a:pPr indent="0" marL="0">
              <a:buNone/>
            </a:pPr>
            <a:r>
              <a:rPr lang="en-US" sz="1800" b="1" spc="120" kern="0" dirty="0">
                <a:solidFill>
                  <a:srgbClr val="00A896"/>
                </a:solidFill>
                <a:latin typeface="Calibri" pitchFamily="34" charset="0"/>
                <a:ea typeface="Calibri" pitchFamily="34" charset="-122"/>
                <a:cs typeface="Calibri" pitchFamily="34" charset="-120"/>
              </a:rPr>
              <a:t>ON-SITE MODEL</a:t>
            </a:r>
            <a:endParaRPr lang="en-US" sz="1800" dirty="0"/>
          </a:p>
        </p:txBody>
      </p:sp>
      <p:sp>
        <p:nvSpPr>
          <p:cNvPr id="12" name="Text 10"/>
          <p:cNvSpPr txBox="1"/>
          <p:nvPr/>
        </p:nvSpPr>
        <p:spPr>
          <a:xfrm>
            <a:off x="6720840" y="3456432"/>
            <a:ext cx="4480560" cy="365760"/>
          </a:xfrm>
          <a:prstGeom prst="rect">
            <a:avLst/>
          </a:prstGeom>
          <a:noFill/>
          <a:ln/>
        </p:spPr>
        <p:txBody>
          <a:bodyPr wrap="square" lIns="0" tIns="0" rIns="0" bIns="0" rtlCol="0" anchor="ctr"/>
          <a:lstStyle/>
          <a:p>
            <a:pPr indent="0" marL="0">
              <a:buNone/>
            </a:pPr>
            <a:r>
              <a:rPr lang="en-US" sz="1900" dirty="0">
                <a:solidFill>
                  <a:srgbClr val="0B2B3A"/>
                </a:solidFill>
                <a:latin typeface="Calibri" pitchFamily="34" charset="0"/>
                <a:ea typeface="Calibri" pitchFamily="34" charset="-122"/>
                <a:cs typeface="Calibri" pitchFamily="34" charset="-120"/>
              </a:rPr>
              <a:t>adds dirtiness and its interaction</a:t>
            </a:r>
            <a:endParaRPr lang="en-US" sz="1900" dirty="0"/>
          </a:p>
        </p:txBody>
      </p:sp>
      <p:sp>
        <p:nvSpPr>
          <p:cNvPr id="13" name="Text 11"/>
          <p:cNvSpPr txBox="1"/>
          <p:nvPr/>
        </p:nvSpPr>
        <p:spPr>
          <a:xfrm>
            <a:off x="6720840" y="3931920"/>
            <a:ext cx="4480560" cy="731520"/>
          </a:xfrm>
          <a:prstGeom prst="rect">
            <a:avLst/>
          </a:prstGeom>
          <a:noFill/>
          <a:ln/>
        </p:spPr>
        <p:txBody>
          <a:bodyPr wrap="square" lIns="0" tIns="0" rIns="0" bIns="0" rtlCol="0" anchor="ctr"/>
          <a:lstStyle/>
          <a:p>
            <a:pPr indent="0" marL="0">
              <a:buNone/>
            </a:pPr>
            <a:r>
              <a:rPr lang="en-US" sz="4400" b="1" dirty="0">
                <a:solidFill>
                  <a:srgbClr val="00A896"/>
                </a:solidFill>
                <a:latin typeface="Cambria" pitchFamily="34" charset="0"/>
                <a:ea typeface="Cambria" pitchFamily="34" charset="-122"/>
                <a:cs typeface="Cambria" pitchFamily="34" charset="-120"/>
              </a:rPr>
              <a:t>2.40 L</a:t>
            </a:r>
            <a:endParaRPr lang="en-US" sz="4400" dirty="0"/>
          </a:p>
        </p:txBody>
      </p:sp>
      <p:sp>
        <p:nvSpPr>
          <p:cNvPr id="14" name="Text 12"/>
          <p:cNvSpPr txBox="1"/>
          <p:nvPr/>
        </p:nvSpPr>
        <p:spPr>
          <a:xfrm>
            <a:off x="6720840" y="4709160"/>
            <a:ext cx="4480560" cy="640080"/>
          </a:xfrm>
          <a:prstGeom prst="rect">
            <a:avLst/>
          </a:prstGeom>
          <a:noFill/>
          <a:ln/>
        </p:spPr>
        <p:txBody>
          <a:bodyPr wrap="square" lIns="0" tIns="0" rIns="0" bIns="0" rtlCol="0" anchor="ctr"/>
          <a:lstStyle/>
          <a:p>
            <a:pPr indent="0" marL="0">
              <a:buNone/>
            </a:pPr>
            <a:r>
              <a:rPr lang="en-US" sz="1700" dirty="0">
                <a:solidFill>
                  <a:srgbClr val="5A6B73"/>
                </a:solidFill>
                <a:latin typeface="Calibri" pitchFamily="34" charset="0"/>
                <a:ea typeface="Calibri" pitchFamily="34" charset="-122"/>
                <a:cs typeface="Calibri" pitchFamily="34" charset="-120"/>
              </a:rPr>
              <a:t>mean absolute error — used once the crew arrives</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800" b="1" spc="150" kern="0" dirty="0">
                <a:solidFill>
                  <a:srgbClr val="00A896"/>
                </a:solidFill>
                <a:latin typeface="Calibri" pitchFamily="34" charset="0"/>
                <a:ea typeface="Calibri" pitchFamily="34" charset="-122"/>
                <a:cs typeface="Calibri" pitchFamily="34" charset="-120"/>
              </a:rPr>
              <a:t>RESULTS</a:t>
            </a:r>
            <a:endParaRPr lang="en-US" sz="1800" dirty="0"/>
          </a:p>
        </p:txBody>
      </p:sp>
      <p:sp>
        <p:nvSpPr>
          <p:cNvPr id="3" name="Text 1"/>
          <p:cNvSpPr txBox="1"/>
          <p:nvPr/>
        </p:nvSpPr>
        <p:spPr>
          <a:xfrm>
            <a:off x="640080" y="713232"/>
            <a:ext cx="10881360" cy="868680"/>
          </a:xfrm>
          <a:prstGeom prst="rect">
            <a:avLst/>
          </a:prstGeom>
          <a:noFill/>
          <a:ln/>
        </p:spPr>
        <p:txBody>
          <a:bodyPr wrap="square" lIns="0" tIns="0" rIns="0" bIns="0" rtlCol="0" anchor="ctr"/>
          <a:lstStyle/>
          <a:p>
            <a:pPr indent="0" marL="0">
              <a:buNone/>
            </a:pPr>
            <a:r>
              <a:rPr lang="en-US" sz="3800" b="1" dirty="0">
                <a:solidFill>
                  <a:srgbClr val="0B2B3A"/>
                </a:solidFill>
                <a:latin typeface="Cambria" pitchFamily="34" charset="0"/>
                <a:ea typeface="Cambria" pitchFamily="34" charset="-122"/>
                <a:cs typeface="Cambria" pitchFamily="34" charset="-120"/>
              </a:rPr>
              <a:t>Against a baseline, over ten seeds</a:t>
            </a:r>
            <a:endParaRPr lang="en-US" sz="3800" dirty="0"/>
          </a:p>
        </p:txBody>
      </p:sp>
      <p:graphicFrame>
        <p:nvGraphicFramePr>
          <p:cNvPr id="4" name="Chart 0" descr=""/>
          <p:cNvGraphicFramePr/>
          <p:nvPr/>
        </p:nvGraphicFramePr>
        <p:xfrm>
          <a:off x="640080" y="1737360"/>
          <a:ext cx="667512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680960" y="1920240"/>
            <a:ext cx="3840480" cy="2743200"/>
          </a:xfrm>
          <a:prstGeom prst="rect">
            <a:avLst/>
          </a:prstGeom>
          <a:noFill/>
          <a:ln/>
        </p:spPr>
        <p:txBody>
          <a:bodyPr wrap="square" lIns="0" tIns="0" rIns="0" bIns="0" rtlCol="0" anchor="ctr"/>
          <a:lstStyle/>
          <a:p>
            <a:pPr indent="0" marL="0">
              <a:lnSpc>
                <a:spcPts val="2800"/>
              </a:lnSpc>
              <a:buNone/>
            </a:pPr>
            <a:r>
              <a:rPr lang="en-US" sz="1900" dirty="0">
                <a:solidFill>
                  <a:srgbClr val="0B2B3A"/>
                </a:solidFill>
                <a:latin typeface="Calibri" pitchFamily="34" charset="0"/>
                <a:ea typeface="Calibri" pitchFamily="34" charset="-122"/>
                <a:cs typeface="Calibri" pitchFamily="34" charset="-120"/>
              </a:rPr>
              <a:t>Every number is the mean of ten seeds, each reshuffling the split.</a:t>
            </a:r>
            <a:endParaRPr lang="en-US" sz="1900" dirty="0"/>
          </a:p>
          <a:p>
            <a:pPr indent="0" marL="0">
              <a:lnSpc>
                <a:spcPts val="2800"/>
              </a:lnSpc>
              <a:buNone/>
            </a:pPr>
            <a:endParaRPr lang="en-US" sz="1900" dirty="0"/>
          </a:p>
          <a:p>
            <a:pPr indent="0" marL="0">
              <a:lnSpc>
                <a:spcPts val="2800"/>
              </a:lnSpc>
              <a:buNone/>
            </a:pPr>
            <a:r>
              <a:rPr lang="en-US" sz="1900" dirty="0">
                <a:solidFill>
                  <a:srgbClr val="0B2B3A"/>
                </a:solidFill>
                <a:latin typeface="Calibri" pitchFamily="34" charset="0"/>
                <a:ea typeface="Calibri" pitchFamily="34" charset="-122"/>
                <a:cs typeface="Calibri" pitchFamily="34" charset="-120"/>
              </a:rPr>
              <a:t>The on-site model sits at the noise floor — within an exact feature cell, jobs scatter with sd ≈ 3 L no matter what we do.</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800" b="1" spc="150" kern="0" dirty="0">
                <a:solidFill>
                  <a:srgbClr val="00A896"/>
                </a:solidFill>
                <a:latin typeface="Calibri" pitchFamily="34" charset="0"/>
                <a:ea typeface="Calibri" pitchFamily="34" charset="-122"/>
                <a:cs typeface="Calibri" pitchFamily="34" charset="-120"/>
              </a:rPr>
              <a:t>WHAT DID NOT WORK</a:t>
            </a:r>
            <a:endParaRPr lang="en-US" sz="1800" dirty="0"/>
          </a:p>
        </p:txBody>
      </p:sp>
      <p:sp>
        <p:nvSpPr>
          <p:cNvPr id="3" name="Text 1"/>
          <p:cNvSpPr txBox="1"/>
          <p:nvPr/>
        </p:nvSpPr>
        <p:spPr>
          <a:xfrm>
            <a:off x="640080" y="713232"/>
            <a:ext cx="10881360" cy="868680"/>
          </a:xfrm>
          <a:prstGeom prst="rect">
            <a:avLst/>
          </a:prstGeom>
          <a:noFill/>
          <a:ln/>
        </p:spPr>
        <p:txBody>
          <a:bodyPr wrap="square" lIns="0" tIns="0" rIns="0" bIns="0" rtlCol="0" anchor="ctr"/>
          <a:lstStyle/>
          <a:p>
            <a:pPr indent="0" marL="0">
              <a:buNone/>
            </a:pPr>
            <a:r>
              <a:rPr lang="en-US" sz="3800" b="1" dirty="0">
                <a:solidFill>
                  <a:srgbClr val="0B2B3A"/>
                </a:solidFill>
                <a:latin typeface="Cambria" pitchFamily="34" charset="0"/>
                <a:ea typeface="Cambria" pitchFamily="34" charset="-122"/>
                <a:cs typeface="Cambria" pitchFamily="34" charset="-120"/>
              </a:rPr>
              <a:t>Three model families, one answer</a:t>
            </a:r>
            <a:endParaRPr lang="en-US" sz="3800" dirty="0"/>
          </a:p>
        </p:txBody>
      </p:sp>
      <p:sp>
        <p:nvSpPr>
          <p:cNvPr id="4" name="Text 2"/>
          <p:cNvSpPr txBox="1"/>
          <p:nvPr/>
        </p:nvSpPr>
        <p:spPr>
          <a:xfrm>
            <a:off x="640080" y="1737360"/>
            <a:ext cx="10881360" cy="822960"/>
          </a:xfrm>
          <a:prstGeom prst="rect">
            <a:avLst/>
          </a:prstGeom>
          <a:noFill/>
          <a:ln/>
        </p:spPr>
        <p:txBody>
          <a:bodyPr wrap="square" lIns="0" tIns="0" rIns="0" bIns="0" rtlCol="0" anchor="ctr"/>
          <a:lstStyle/>
          <a:p>
            <a:pPr indent="0" marL="0">
              <a:lnSpc>
                <a:spcPts val="2800"/>
              </a:lnSpc>
              <a:buNone/>
            </a:pPr>
            <a:r>
              <a:rPr lang="en-US" sz="2000" dirty="0">
                <a:solidFill>
                  <a:srgbClr val="0B2B3A"/>
                </a:solidFill>
                <a:latin typeface="Calibri" pitchFamily="34" charset="0"/>
                <a:ea typeface="Calibri" pitchFamily="34" charset="-122"/>
                <a:cs typeface="Calibri" pitchFamily="34" charset="-120"/>
              </a:rPr>
              <a:t>Cell mean, linear with interaction, and gradient boosting differ by 0.001 L. The seed-to-seed spread is 0.038 L.</a:t>
            </a:r>
            <a:endParaRPr lang="en-US" sz="2000" dirty="0"/>
          </a:p>
        </p:txBody>
      </p:sp>
      <p:sp>
        <p:nvSpPr>
          <p:cNvPr id="5" name="Shape 3"/>
          <p:cNvSpPr/>
          <p:nvPr/>
        </p:nvSpPr>
        <p:spPr>
          <a:xfrm>
            <a:off x="640080" y="2743200"/>
            <a:ext cx="10881360" cy="1417320"/>
          </a:xfrm>
          <a:prstGeom prst="roundRect">
            <a:avLst>
              <a:gd name="adj" fmla="val 5161"/>
            </a:avLst>
          </a:prstGeom>
          <a:solidFill>
            <a:srgbClr val="EAF2F5"/>
          </a:solidFill>
          <a:ln w="12700">
            <a:solidFill>
              <a:srgbClr val="EAF2F5"/>
            </a:solidFill>
            <a:prstDash val="solid"/>
          </a:ln>
        </p:spPr>
      </p:sp>
      <p:sp>
        <p:nvSpPr>
          <p:cNvPr id="6" name="Text 4"/>
          <p:cNvSpPr txBox="1"/>
          <p:nvPr/>
        </p:nvSpPr>
        <p:spPr>
          <a:xfrm>
            <a:off x="1005840" y="3063240"/>
            <a:ext cx="10149840" cy="777240"/>
          </a:xfrm>
          <a:prstGeom prst="rect">
            <a:avLst/>
          </a:prstGeom>
          <a:noFill/>
          <a:ln/>
        </p:spPr>
        <p:txBody>
          <a:bodyPr wrap="square" lIns="0" tIns="0" rIns="0" bIns="0" rtlCol="0" anchor="ctr"/>
          <a:lstStyle/>
          <a:p>
            <a:pPr indent="0" marL="0">
              <a:buNone/>
            </a:pPr>
            <a:r>
              <a:rPr lang="en-US" sz="2600" b="1" dirty="0">
                <a:solidFill>
                  <a:srgbClr val="065A82"/>
                </a:solidFill>
                <a:latin typeface="Cambria" pitchFamily="34" charset="0"/>
                <a:ea typeface="Cambria" pitchFamily="34" charset="-122"/>
                <a:cs typeface="Cambria" pitchFamily="34" charset="-120"/>
              </a:rPr>
              <a:t>The noise between splits is ~40× the gap between models.</a:t>
            </a:r>
            <a:endParaRPr lang="en-US" sz="2600" dirty="0"/>
          </a:p>
        </p:txBody>
      </p:sp>
      <p:sp>
        <p:nvSpPr>
          <p:cNvPr id="7" name="Text 5"/>
          <p:cNvSpPr txBox="1"/>
          <p:nvPr/>
        </p:nvSpPr>
        <p:spPr>
          <a:xfrm>
            <a:off x="640080" y="4480560"/>
            <a:ext cx="10881360" cy="1554480"/>
          </a:xfrm>
          <a:prstGeom prst="rect">
            <a:avLst/>
          </a:prstGeom>
          <a:noFill/>
          <a:ln/>
        </p:spPr>
        <p:txBody>
          <a:bodyPr wrap="square" lIns="0" tIns="0" rIns="0" bIns="0" rtlCol="0" anchor="ctr"/>
          <a:lstStyle/>
          <a:p>
            <a:pPr indent="0" marL="0">
              <a:lnSpc>
                <a:spcPts val="2800"/>
              </a:lnSpc>
              <a:buNone/>
            </a:pPr>
            <a:r>
              <a:rPr lang="en-US" sz="1900" dirty="0">
                <a:solidFill>
                  <a:srgbClr val="0B2B3A"/>
                </a:solidFill>
                <a:latin typeface="Calibri" pitchFamily="34" charset="0"/>
                <a:ea typeface="Calibri" pitchFamily="34" charset="-122"/>
                <a:cs typeface="Calibri" pitchFamily="34" charset="-120"/>
              </a:rPr>
              <a:t>Reported from a single split, the ranking would be an artefact of which rows landed in the test set. We select the simplest family within 1% of the best — the cell mean — at both stages. Picking by raw argmin would have shipped gradient boosting for a 0.0003 L gain.</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800" b="1" spc="150" kern="0" dirty="0">
                <a:solidFill>
                  <a:srgbClr val="00A896"/>
                </a:solidFill>
                <a:latin typeface="Calibri" pitchFamily="34" charset="0"/>
                <a:ea typeface="Calibri" pitchFamily="34" charset="-122"/>
                <a:cs typeface="Calibri" pitchFamily="34" charset="-120"/>
              </a:rPr>
              <a:t>DELIVERABLE 1</a:t>
            </a:r>
            <a:endParaRPr lang="en-US" sz="1800" dirty="0"/>
          </a:p>
        </p:txBody>
      </p:sp>
      <p:sp>
        <p:nvSpPr>
          <p:cNvPr id="3" name="Text 1"/>
          <p:cNvSpPr txBox="1"/>
          <p:nvPr/>
        </p:nvSpPr>
        <p:spPr>
          <a:xfrm>
            <a:off x="640080" y="713232"/>
            <a:ext cx="10881360" cy="868680"/>
          </a:xfrm>
          <a:prstGeom prst="rect">
            <a:avLst/>
          </a:prstGeom>
          <a:noFill/>
          <a:ln/>
        </p:spPr>
        <p:txBody>
          <a:bodyPr wrap="square" lIns="0" tIns="0" rIns="0" bIns="0" rtlCol="0" anchor="ctr"/>
          <a:lstStyle/>
          <a:p>
            <a:pPr indent="0" marL="0">
              <a:buNone/>
            </a:pPr>
            <a:r>
              <a:rPr lang="en-US" sz="3800" b="1" dirty="0">
                <a:solidFill>
                  <a:srgbClr val="0B2B3A"/>
                </a:solidFill>
                <a:latin typeface="Cambria" pitchFamily="34" charset="0"/>
                <a:ea typeface="Cambria" pitchFamily="34" charset="-122"/>
                <a:cs typeface="Cambria" pitchFamily="34" charset="-120"/>
              </a:rPr>
              <a:t>Mean arithmetic overstates the tank</a:t>
            </a:r>
            <a:endParaRPr lang="en-US" sz="3800" dirty="0"/>
          </a:p>
        </p:txBody>
      </p:sp>
      <p:graphicFrame>
        <p:nvGraphicFramePr>
          <p:cNvPr id="4" name="Chart 0" descr=""/>
          <p:cNvGraphicFramePr/>
          <p:nvPr/>
        </p:nvGraphicFramePr>
        <p:xfrm>
          <a:off x="640080" y="1783080"/>
          <a:ext cx="6492240" cy="37490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498080" y="1828800"/>
            <a:ext cx="4023360" cy="914400"/>
          </a:xfrm>
          <a:prstGeom prst="rect">
            <a:avLst/>
          </a:prstGeom>
          <a:noFill/>
          <a:ln/>
        </p:spPr>
        <p:txBody>
          <a:bodyPr wrap="square" lIns="0" tIns="0" rIns="0" bIns="0" rtlCol="0" anchor="ctr"/>
          <a:lstStyle/>
          <a:p>
            <a:pPr indent="0" marL="0">
              <a:lnSpc>
                <a:spcPts val="2600"/>
              </a:lnSpc>
              <a:buNone/>
            </a:pPr>
            <a:r>
              <a:rPr lang="en-US" sz="1900" dirty="0">
                <a:solidFill>
                  <a:srgbClr val="0B2B3A"/>
                </a:solidFill>
                <a:latin typeface="Calibri" pitchFamily="34" charset="0"/>
                <a:ea typeface="Calibri" pitchFamily="34" charset="-122"/>
                <a:cs typeface="Calibri" pitchFamily="34" charset="-120"/>
              </a:rPr>
              <a:t>Dividing capacity by the 55.7 L mean gives 3 / 5 / 6 jobs.</a:t>
            </a:r>
            <a:endParaRPr lang="en-US" sz="1900" dirty="0"/>
          </a:p>
          <a:p>
            <a:pPr indent="0" marL="0">
              <a:lnSpc>
                <a:spcPts val="2600"/>
              </a:lnSpc>
              <a:buNone/>
            </a:pPr>
            <a:r>
              <a:rPr lang="en-US" sz="1900" dirty="0">
                <a:solidFill>
                  <a:srgbClr val="0B2B3A"/>
                </a:solidFill>
                <a:latin typeface="Calibri" pitchFamily="34" charset="0"/>
                <a:ea typeface="Calibri" pitchFamily="34" charset="-122"/>
                <a:cs typeface="Calibri" pitchFamily="34" charset="-120"/>
              </a:rPr>
              <a:t>Those loads actually fit:</a:t>
            </a:r>
            <a:endParaRPr lang="en-US" sz="1900" dirty="0"/>
          </a:p>
        </p:txBody>
      </p:sp>
      <p:sp>
        <p:nvSpPr>
          <p:cNvPr id="6" name="Text 3"/>
          <p:cNvSpPr txBox="1"/>
          <p:nvPr/>
        </p:nvSpPr>
        <p:spPr>
          <a:xfrm>
            <a:off x="7498080" y="2834640"/>
            <a:ext cx="4023360" cy="640080"/>
          </a:xfrm>
          <a:prstGeom prst="rect">
            <a:avLst/>
          </a:prstGeom>
          <a:noFill/>
          <a:ln/>
        </p:spPr>
        <p:txBody>
          <a:bodyPr wrap="square" lIns="0" tIns="0" rIns="0" bIns="0" rtlCol="0" anchor="ctr"/>
          <a:lstStyle/>
          <a:p>
            <a:pPr indent="0" marL="0">
              <a:buNone/>
            </a:pPr>
            <a:r>
              <a:rPr lang="en-US" sz="3000" b="1" dirty="0">
                <a:solidFill>
                  <a:srgbClr val="D9532B"/>
                </a:solidFill>
                <a:latin typeface="Cambria" pitchFamily="34" charset="0"/>
                <a:ea typeface="Cambria" pitchFamily="34" charset="-122"/>
                <a:cs typeface="Cambria" pitchFamily="34" charset="-120"/>
              </a:rPr>
              <a:t>91%   53%   70%</a:t>
            </a:r>
            <a:endParaRPr lang="en-US" sz="3000" dirty="0"/>
          </a:p>
        </p:txBody>
      </p:sp>
      <p:sp>
        <p:nvSpPr>
          <p:cNvPr id="7" name="Text 4"/>
          <p:cNvSpPr txBox="1"/>
          <p:nvPr/>
        </p:nvSpPr>
        <p:spPr>
          <a:xfrm>
            <a:off x="7498080" y="3611880"/>
            <a:ext cx="4023360" cy="1920240"/>
          </a:xfrm>
          <a:prstGeom prst="rect">
            <a:avLst/>
          </a:prstGeom>
          <a:noFill/>
          <a:ln/>
        </p:spPr>
        <p:txBody>
          <a:bodyPr wrap="square" lIns="0" tIns="0" rIns="0" bIns="0" rtlCol="0" anchor="ctr"/>
          <a:lstStyle/>
          <a:p>
            <a:pPr indent="0" marL="0">
              <a:lnSpc>
                <a:spcPts val="2800"/>
              </a:lnSpc>
              <a:buNone/>
            </a:pPr>
            <a:r>
              <a:rPr lang="en-US" sz="1900" dirty="0">
                <a:solidFill>
                  <a:srgbClr val="0B2B3A"/>
                </a:solidFill>
                <a:latin typeface="Calibri" pitchFamily="34" charset="0"/>
                <a:ea typeface="Calibri" pitchFamily="34" charset="-122"/>
                <a:cs typeface="Calibri" pitchFamily="34" charset="-120"/>
              </a:rPr>
              <a:t>of the time. Load the EV van for five jobs and the crew runs dry roughly every second day.</a:t>
            </a:r>
            <a:endParaRPr lang="en-US" sz="1900" dirty="0"/>
          </a:p>
          <a:p>
            <a:pPr indent="0" marL="0">
              <a:lnSpc>
                <a:spcPts val="2800"/>
              </a:lnSpc>
              <a:buNone/>
            </a:pPr>
            <a:endParaRPr lang="en-US" sz="1900" dirty="0"/>
          </a:p>
          <a:p>
            <a:pPr indent="0" marL="0">
              <a:lnSpc>
                <a:spcPts val="2800"/>
              </a:lnSpc>
              <a:buNone/>
            </a:pPr>
            <a:r>
              <a:rPr lang="en-US" sz="1900" dirty="0">
                <a:solidFill>
                  <a:srgbClr val="0B2B3A"/>
                </a:solidFill>
                <a:latin typeface="Calibri" pitchFamily="34" charset="0"/>
                <a:ea typeface="Calibri" pitchFamily="34" charset="-122"/>
                <a:cs typeface="Calibri" pitchFamily="34" charset="-120"/>
              </a:rPr>
              <a:t>A capacity figure without a service level is not a usable number.</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800" b="1" spc="150" kern="0" dirty="0">
                <a:solidFill>
                  <a:srgbClr val="00A896"/>
                </a:solidFill>
                <a:latin typeface="Calibri" pitchFamily="34" charset="0"/>
                <a:ea typeface="Calibri" pitchFamily="34" charset="-122"/>
                <a:cs typeface="Calibri" pitchFamily="34" charset="-120"/>
              </a:rPr>
              <a:t>DELIVERABLE 2</a:t>
            </a:r>
            <a:endParaRPr lang="en-US" sz="1800" dirty="0"/>
          </a:p>
        </p:txBody>
      </p:sp>
      <p:sp>
        <p:nvSpPr>
          <p:cNvPr id="3" name="Text 1"/>
          <p:cNvSpPr txBox="1"/>
          <p:nvPr/>
        </p:nvSpPr>
        <p:spPr>
          <a:xfrm>
            <a:off x="640080" y="713232"/>
            <a:ext cx="10881360" cy="868680"/>
          </a:xfrm>
          <a:prstGeom prst="rect">
            <a:avLst/>
          </a:prstGeom>
          <a:noFill/>
          <a:ln/>
        </p:spPr>
        <p:txBody>
          <a:bodyPr wrap="square" lIns="0" tIns="0" rIns="0" bIns="0" rtlCol="0" anchor="ctr"/>
          <a:lstStyle/>
          <a:p>
            <a:pPr indent="0" marL="0">
              <a:buNone/>
            </a:pPr>
            <a:r>
              <a:rPr lang="en-US" sz="3800" b="1" dirty="0">
                <a:solidFill>
                  <a:srgbClr val="0B2B3A"/>
                </a:solidFill>
                <a:latin typeface="Cambria" pitchFamily="34" charset="0"/>
                <a:ea typeface="Cambria" pitchFamily="34" charset="-122"/>
                <a:cs typeface="Cambria" pitchFamily="34" charset="-120"/>
              </a:rPr>
              <a:t>One tank does not cover a working day</a:t>
            </a:r>
            <a:endParaRPr lang="en-US" sz="3800" dirty="0"/>
          </a:p>
        </p:txBody>
      </p:sp>
      <p:pic>
        <p:nvPicPr>
          <p:cNvPr id="4" name="Image 0" descr="C:\Users\naman\OneDrive\Documents\doorstep-A07-water-supplies\results\plots\07_tank_feasibility.png">    </p:cNvPr>
          <p:cNvPicPr>
            <a:picLocks noChangeAspect="1"/>
          </p:cNvPicPr>
          <p:nvPr/>
        </p:nvPicPr>
        <p:blipFill>
          <a:blip r:embed="rId1"/>
          <a:stretch>
            <a:fillRect/>
          </a:stretch>
        </p:blipFill>
        <p:spPr>
          <a:xfrm>
            <a:off x="640080" y="1737360"/>
            <a:ext cx="5760720" cy="3749040"/>
          </a:xfrm>
          <a:prstGeom prst="rect">
            <a:avLst/>
          </a:prstGeom>
        </p:spPr>
      </p:pic>
      <p:sp>
        <p:nvSpPr>
          <p:cNvPr id="5" name="Text 2"/>
          <p:cNvSpPr txBox="1"/>
          <p:nvPr/>
        </p:nvSpPr>
        <p:spPr>
          <a:xfrm>
            <a:off x="6766560" y="1783080"/>
            <a:ext cx="4754880" cy="365760"/>
          </a:xfrm>
          <a:prstGeom prst="rect">
            <a:avLst/>
          </a:prstGeom>
          <a:noFill/>
          <a:ln/>
        </p:spPr>
        <p:txBody>
          <a:bodyPr wrap="square" lIns="0" tIns="0" rIns="0" bIns="0" rtlCol="0" anchor="ctr"/>
          <a:lstStyle/>
          <a:p>
            <a:pPr indent="0" marL="0">
              <a:buNone/>
            </a:pPr>
            <a:r>
              <a:rPr lang="en-US" sz="1900" b="1" dirty="0">
                <a:solidFill>
                  <a:srgbClr val="0B2B3A"/>
                </a:solidFill>
                <a:latin typeface="Calibri" pitchFamily="34" charset="0"/>
                <a:ea typeface="Calibri" pitchFamily="34" charset="-122"/>
                <a:cs typeface="Calibri" pitchFamily="34" charset="-120"/>
              </a:rPr>
              <a:t>Mean refills needed per crew-day</a:t>
            </a:r>
            <a:endParaRPr lang="en-US" sz="1900" dirty="0"/>
          </a:p>
        </p:txBody>
      </p:sp>
      <p:sp>
        <p:nvSpPr>
          <p:cNvPr id="6" name="Text 3"/>
          <p:cNvSpPr txBox="1"/>
          <p:nvPr/>
        </p:nvSpPr>
        <p:spPr>
          <a:xfrm>
            <a:off x="6766560" y="2286000"/>
            <a:ext cx="1463040" cy="914400"/>
          </a:xfrm>
          <a:prstGeom prst="rect">
            <a:avLst/>
          </a:prstGeom>
          <a:noFill/>
          <a:ln/>
        </p:spPr>
        <p:txBody>
          <a:bodyPr wrap="square" lIns="0" tIns="0" rIns="0" bIns="0" rtlCol="0" anchor="ctr"/>
          <a:lstStyle/>
          <a:p>
            <a:pPr indent="0" marL="0">
              <a:buNone/>
            </a:pPr>
            <a:r>
              <a:rPr lang="en-US" sz="6000" b="1" dirty="0">
                <a:solidFill>
                  <a:srgbClr val="D9532B"/>
                </a:solidFill>
                <a:latin typeface="Cambria" pitchFamily="34" charset="0"/>
                <a:ea typeface="Cambria" pitchFamily="34" charset="-122"/>
                <a:cs typeface="Cambria" pitchFamily="34" charset="-120"/>
              </a:rPr>
              <a:t>0.88</a:t>
            </a:r>
            <a:endParaRPr lang="en-US" sz="6000" dirty="0"/>
          </a:p>
        </p:txBody>
      </p:sp>
      <p:sp>
        <p:nvSpPr>
          <p:cNvPr id="7" name="Text 4"/>
          <p:cNvSpPr txBox="1"/>
          <p:nvPr/>
        </p:nvSpPr>
        <p:spPr>
          <a:xfrm>
            <a:off x="6766560" y="3218688"/>
            <a:ext cx="1463040" cy="777240"/>
          </a:xfrm>
          <a:prstGeom prst="rect">
            <a:avLst/>
          </a:prstGeom>
          <a:noFill/>
          <a:ln/>
        </p:spPr>
        <p:txBody>
          <a:bodyPr wrap="square" lIns="0" tIns="0" rIns="0" bIns="0" rtlCol="0" anchor="ctr"/>
          <a:lstStyle/>
          <a:p>
            <a:pPr indent="0" marL="0">
              <a:buNone/>
            </a:pPr>
            <a:r>
              <a:rPr lang="en-US" sz="1800" dirty="0">
                <a:solidFill>
                  <a:srgbClr val="5A6B73"/>
                </a:solidFill>
                <a:latin typeface="Calibri" pitchFamily="34" charset="0"/>
                <a:ea typeface="Calibri" pitchFamily="34" charset="-122"/>
                <a:cs typeface="Calibri" pitchFamily="34" charset="-120"/>
              </a:rPr>
              <a:t>200 L van</a:t>
            </a:r>
            <a:endParaRPr lang="en-US" sz="1800" dirty="0"/>
          </a:p>
        </p:txBody>
      </p:sp>
      <p:sp>
        <p:nvSpPr>
          <p:cNvPr id="8" name="Text 5"/>
          <p:cNvSpPr txBox="1"/>
          <p:nvPr/>
        </p:nvSpPr>
        <p:spPr>
          <a:xfrm>
            <a:off x="8412480" y="2286000"/>
            <a:ext cx="1463040" cy="914400"/>
          </a:xfrm>
          <a:prstGeom prst="rect">
            <a:avLst/>
          </a:prstGeom>
          <a:noFill/>
          <a:ln/>
        </p:spPr>
        <p:txBody>
          <a:bodyPr wrap="square" lIns="0" tIns="0" rIns="0" bIns="0" rtlCol="0" anchor="ctr"/>
          <a:lstStyle/>
          <a:p>
            <a:pPr indent="0" marL="0">
              <a:buNone/>
            </a:pPr>
            <a:r>
              <a:rPr lang="en-US" sz="6000" b="1" dirty="0">
                <a:solidFill>
                  <a:srgbClr val="065A82"/>
                </a:solidFill>
                <a:latin typeface="Cambria" pitchFamily="34" charset="0"/>
                <a:ea typeface="Cambria" pitchFamily="34" charset="-122"/>
                <a:cs typeface="Cambria" pitchFamily="34" charset="-120"/>
              </a:rPr>
              <a:t>0.45</a:t>
            </a:r>
            <a:endParaRPr lang="en-US" sz="6000" dirty="0"/>
          </a:p>
        </p:txBody>
      </p:sp>
      <p:sp>
        <p:nvSpPr>
          <p:cNvPr id="9" name="Text 6"/>
          <p:cNvSpPr txBox="1"/>
          <p:nvPr/>
        </p:nvSpPr>
        <p:spPr>
          <a:xfrm>
            <a:off x="8412480" y="3218688"/>
            <a:ext cx="1463040" cy="777240"/>
          </a:xfrm>
          <a:prstGeom prst="rect">
            <a:avLst/>
          </a:prstGeom>
          <a:noFill/>
          <a:ln/>
        </p:spPr>
        <p:txBody>
          <a:bodyPr wrap="square" lIns="0" tIns="0" rIns="0" bIns="0" rtlCol="0" anchor="ctr"/>
          <a:lstStyle/>
          <a:p>
            <a:pPr indent="0" marL="0">
              <a:buNone/>
            </a:pPr>
            <a:r>
              <a:rPr lang="en-US" sz="1800" dirty="0">
                <a:solidFill>
                  <a:srgbClr val="5A6B73"/>
                </a:solidFill>
                <a:latin typeface="Calibri" pitchFamily="34" charset="0"/>
                <a:ea typeface="Calibri" pitchFamily="34" charset="-122"/>
                <a:cs typeface="Calibri" pitchFamily="34" charset="-120"/>
              </a:rPr>
              <a:t>280 L van</a:t>
            </a:r>
            <a:endParaRPr lang="en-US" sz="1800" dirty="0"/>
          </a:p>
        </p:txBody>
      </p:sp>
      <p:sp>
        <p:nvSpPr>
          <p:cNvPr id="10" name="Text 7"/>
          <p:cNvSpPr txBox="1"/>
          <p:nvPr/>
        </p:nvSpPr>
        <p:spPr>
          <a:xfrm>
            <a:off x="10058400" y="2286000"/>
            <a:ext cx="1463040" cy="914400"/>
          </a:xfrm>
          <a:prstGeom prst="rect">
            <a:avLst/>
          </a:prstGeom>
          <a:noFill/>
          <a:ln/>
        </p:spPr>
        <p:txBody>
          <a:bodyPr wrap="square" lIns="0" tIns="0" rIns="0" bIns="0" rtlCol="0" anchor="ctr"/>
          <a:lstStyle/>
          <a:p>
            <a:pPr indent="0" marL="0">
              <a:buNone/>
            </a:pPr>
            <a:r>
              <a:rPr lang="en-US" sz="6000" b="1" dirty="0">
                <a:solidFill>
                  <a:srgbClr val="00A896"/>
                </a:solidFill>
                <a:latin typeface="Cambria" pitchFamily="34" charset="0"/>
                <a:ea typeface="Cambria" pitchFamily="34" charset="-122"/>
                <a:cs typeface="Cambria" pitchFamily="34" charset="-120"/>
              </a:rPr>
              <a:t>0.26</a:t>
            </a:r>
            <a:endParaRPr lang="en-US" sz="6000" dirty="0"/>
          </a:p>
        </p:txBody>
      </p:sp>
      <p:sp>
        <p:nvSpPr>
          <p:cNvPr id="11" name="Text 8"/>
          <p:cNvSpPr txBox="1"/>
          <p:nvPr/>
        </p:nvSpPr>
        <p:spPr>
          <a:xfrm>
            <a:off x="10058400" y="3218688"/>
            <a:ext cx="1463040" cy="777240"/>
          </a:xfrm>
          <a:prstGeom prst="rect">
            <a:avLst/>
          </a:prstGeom>
          <a:noFill/>
          <a:ln/>
        </p:spPr>
        <p:txBody>
          <a:bodyPr wrap="square" lIns="0" tIns="0" rIns="0" bIns="0" rtlCol="0" anchor="ctr"/>
          <a:lstStyle/>
          <a:p>
            <a:pPr indent="0" marL="0">
              <a:buNone/>
            </a:pPr>
            <a:r>
              <a:rPr lang="en-US" sz="1800" dirty="0">
                <a:solidFill>
                  <a:srgbClr val="5A6B73"/>
                </a:solidFill>
                <a:latin typeface="Calibri" pitchFamily="34" charset="0"/>
                <a:ea typeface="Calibri" pitchFamily="34" charset="-122"/>
                <a:cs typeface="Calibri" pitchFamily="34" charset="-120"/>
              </a:rPr>
              <a:t>350 L van</a:t>
            </a:r>
            <a:endParaRPr lang="en-US" sz="1800" dirty="0"/>
          </a:p>
        </p:txBody>
      </p:sp>
      <p:sp>
        <p:nvSpPr>
          <p:cNvPr id="12" name="Text 9"/>
          <p:cNvSpPr txBox="1"/>
          <p:nvPr/>
        </p:nvSpPr>
        <p:spPr>
          <a:xfrm>
            <a:off x="6766560" y="3977640"/>
            <a:ext cx="4754880" cy="2011680"/>
          </a:xfrm>
          <a:prstGeom prst="rect">
            <a:avLst/>
          </a:prstGeom>
          <a:noFill/>
          <a:ln/>
        </p:spPr>
        <p:txBody>
          <a:bodyPr wrap="square" lIns="0" tIns="0" rIns="0" bIns="0" rtlCol="0" anchor="ctr"/>
          <a:lstStyle/>
          <a:p>
            <a:pPr indent="0" marL="0">
              <a:lnSpc>
                <a:spcPts val="2600"/>
              </a:lnSpc>
              <a:buNone/>
            </a:pPr>
            <a:r>
              <a:rPr lang="en-US" sz="1800" dirty="0">
                <a:solidFill>
                  <a:srgbClr val="0B2B3A"/>
                </a:solidFill>
                <a:latin typeface="Calibri" pitchFamily="34" charset="0"/>
                <a:ea typeface="Calibri" pitchFamily="34" charset="-122"/>
                <a:cs typeface="Calibri" pitchFamily="34" charset="-120"/>
              </a:rPr>
              <a:t>A fifth of small-van days need two or more refills. Refilling is normal operation, not an exception.</a:t>
            </a:r>
            <a:endParaRPr lang="en-US" sz="1800" dirty="0"/>
          </a:p>
          <a:p>
            <a:pPr indent="0" marL="0">
              <a:lnSpc>
                <a:spcPts val="2600"/>
              </a:lnSpc>
              <a:buNone/>
            </a:pPr>
            <a:endParaRPr lang="en-US" sz="1800" dirty="0"/>
          </a:p>
          <a:p>
            <a:pPr indent="0" marL="0">
              <a:lnSpc>
                <a:spcPts val="2600"/>
              </a:lnSpc>
              <a:buNone/>
            </a:pPr>
            <a:r>
              <a:rPr lang="en-US" sz="1800" dirty="0">
                <a:solidFill>
                  <a:srgbClr val="0B2B3A"/>
                </a:solidFill>
                <a:latin typeface="Calibri" pitchFamily="34" charset="0"/>
                <a:ea typeface="Calibri" pitchFamily="34" charset="-122"/>
                <a:cs typeface="Calibri" pitchFamily="34" charset="-120"/>
              </a:rPr>
              <a:t>For fleet planning the real difference between a 200 L and a 350 L van is not jobs per fill — it is 0.88 against 0.26 interruptions a day, each costing travel to a water source.</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800" b="1" spc="150" kern="0" dirty="0">
                <a:solidFill>
                  <a:srgbClr val="00A896"/>
                </a:solidFill>
                <a:latin typeface="Calibri" pitchFamily="34" charset="0"/>
                <a:ea typeface="Calibri" pitchFamily="34" charset="-122"/>
                <a:cs typeface="Calibri" pitchFamily="34" charset="-120"/>
              </a:rPr>
              <a:t>THE SURPRISE</a:t>
            </a:r>
            <a:endParaRPr lang="en-US" sz="1800" dirty="0"/>
          </a:p>
        </p:txBody>
      </p:sp>
      <p:sp>
        <p:nvSpPr>
          <p:cNvPr id="3" name="Text 1"/>
          <p:cNvSpPr txBox="1"/>
          <p:nvPr/>
        </p:nvSpPr>
        <p:spPr>
          <a:xfrm>
            <a:off x="640080" y="713232"/>
            <a:ext cx="10881360" cy="868680"/>
          </a:xfrm>
          <a:prstGeom prst="rect">
            <a:avLst/>
          </a:prstGeom>
          <a:noFill/>
          <a:ln/>
        </p:spPr>
        <p:txBody>
          <a:bodyPr wrap="square" lIns="0" tIns="0" rIns="0" bIns="0" rtlCol="0" anchor="ctr"/>
          <a:lstStyle/>
          <a:p>
            <a:pPr indent="0" marL="0">
              <a:buNone/>
            </a:pPr>
            <a:r>
              <a:rPr lang="en-US" sz="3800" b="1" dirty="0">
                <a:solidFill>
                  <a:srgbClr val="0B2B3A"/>
                </a:solidFill>
                <a:latin typeface="Cambria" pitchFamily="34" charset="0"/>
                <a:ea typeface="Cambria" pitchFamily="34" charset="-122"/>
                <a:cs typeface="Cambria" pitchFamily="34" charset="-120"/>
              </a:rPr>
              <a:t>Optimising the plan made it fail more often</a:t>
            </a:r>
            <a:endParaRPr lang="en-US" sz="3800" dirty="0"/>
          </a:p>
        </p:txBody>
      </p:sp>
      <p:graphicFrame>
        <p:nvGraphicFramePr>
          <p:cNvPr id="4" name="Chart 0" descr=""/>
          <p:cNvGraphicFramePr/>
          <p:nvPr/>
        </p:nvGraphicFramePr>
        <p:xfrm>
          <a:off x="640080" y="1783080"/>
          <a:ext cx="6766560" cy="37490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7772400" y="1874520"/>
            <a:ext cx="3749040" cy="1371600"/>
          </a:xfrm>
          <a:prstGeom prst="rect">
            <a:avLst/>
          </a:prstGeom>
          <a:noFill/>
          <a:ln/>
        </p:spPr>
        <p:txBody>
          <a:bodyPr wrap="square" lIns="0" tIns="0" rIns="0" bIns="0" rtlCol="0" anchor="ctr"/>
          <a:lstStyle/>
          <a:p>
            <a:pPr indent="0" marL="0">
              <a:lnSpc>
                <a:spcPts val="2800"/>
              </a:lnSpc>
              <a:buNone/>
            </a:pPr>
            <a:r>
              <a:rPr lang="en-US" sz="1900" dirty="0">
                <a:solidFill>
                  <a:srgbClr val="0B2B3A"/>
                </a:solidFill>
                <a:latin typeface="Calibri" pitchFamily="34" charset="0"/>
                <a:ea typeface="Calibri" pitchFamily="34" charset="-122"/>
                <a:cs typeface="Calibri" pitchFamily="34" charset="-120"/>
              </a:rPr>
              <a:t>Choosing jobs by exact knapsack captures 13 points more revenue than serving in booked order — and doubles the rate of running dry.</a:t>
            </a:r>
            <a:endParaRPr lang="en-US" sz="1900" dirty="0"/>
          </a:p>
        </p:txBody>
      </p:sp>
      <p:sp>
        <p:nvSpPr>
          <p:cNvPr id="6" name="Text 3"/>
          <p:cNvSpPr txBox="1"/>
          <p:nvPr/>
        </p:nvSpPr>
        <p:spPr>
          <a:xfrm>
            <a:off x="7772400" y="3383280"/>
            <a:ext cx="3749040" cy="2194560"/>
          </a:xfrm>
          <a:prstGeom prst="rect">
            <a:avLst/>
          </a:prstGeom>
          <a:noFill/>
          <a:ln/>
        </p:spPr>
        <p:txBody>
          <a:bodyPr wrap="square" lIns="0" tIns="0" rIns="0" bIns="0" rtlCol="0" anchor="ctr"/>
          <a:lstStyle/>
          <a:p>
            <a:pPr indent="0" marL="0">
              <a:lnSpc>
                <a:spcPts val="2600"/>
              </a:lnSpc>
              <a:buNone/>
            </a:pPr>
            <a:r>
              <a:rPr lang="en-US" sz="1800" dirty="0">
                <a:solidFill>
                  <a:srgbClr val="0B2B3A"/>
                </a:solidFill>
                <a:latin typeface="Calibri" pitchFamily="34" charset="0"/>
                <a:ea typeface="Calibri" pitchFamily="34" charset="-122"/>
                <a:cs typeface="Calibri" pitchFamily="34" charset="-120"/>
              </a:rPr>
              <a:t>Packing a tank to its limit spends exactly the slack that was absorbing prediction error. A loose plan is accidentally robust.</a:t>
            </a:r>
            <a:endParaRPr lang="en-US" sz="1800" dirty="0"/>
          </a:p>
          <a:p>
            <a:pPr indent="0" marL="0">
              <a:lnSpc>
                <a:spcPts val="2600"/>
              </a:lnSpc>
              <a:buNone/>
            </a:pPr>
            <a:endParaRPr lang="en-US" sz="1800" dirty="0"/>
          </a:p>
          <a:p>
            <a:pPr indent="0" marL="0">
              <a:lnSpc>
                <a:spcPts val="2600"/>
              </a:lnSpc>
              <a:buNone/>
            </a:pPr>
            <a:r>
              <a:rPr lang="en-US" sz="1800" dirty="0">
                <a:solidFill>
                  <a:srgbClr val="0B2B3A"/>
                </a:solidFill>
                <a:latin typeface="Calibri" pitchFamily="34" charset="0"/>
                <a:ea typeface="Calibri" pitchFamily="34" charset="-122"/>
                <a:cs typeface="Calibri" pitchFamily="34" charset="-120"/>
              </a:rPr>
              <a:t>Planning against the interval's upper bound removes overflow entirely, for about ten points of throughput.</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74320"/>
          </a:xfrm>
          <a:prstGeom prst="rect">
            <a:avLst/>
          </a:prstGeom>
          <a:noFill/>
          <a:ln/>
        </p:spPr>
        <p:txBody>
          <a:bodyPr wrap="square" lIns="0" tIns="0" rIns="0" bIns="0" rtlCol="0" anchor="ctr"/>
          <a:lstStyle/>
          <a:p>
            <a:pPr indent="0" marL="0">
              <a:buNone/>
            </a:pPr>
            <a:r>
              <a:rPr lang="en-US" sz="1800" b="1" spc="150" kern="0" dirty="0">
                <a:solidFill>
                  <a:srgbClr val="00A896"/>
                </a:solidFill>
                <a:latin typeface="Calibri" pitchFamily="34" charset="0"/>
                <a:ea typeface="Calibri" pitchFamily="34" charset="-122"/>
                <a:cs typeface="Calibri" pitchFamily="34" charset="-120"/>
              </a:rPr>
              <a:t>SUSTAINABILITY</a:t>
            </a:r>
            <a:endParaRPr lang="en-US" sz="1800" dirty="0"/>
          </a:p>
        </p:txBody>
      </p:sp>
      <p:sp>
        <p:nvSpPr>
          <p:cNvPr id="3" name="Text 1"/>
          <p:cNvSpPr txBox="1"/>
          <p:nvPr/>
        </p:nvSpPr>
        <p:spPr>
          <a:xfrm>
            <a:off x="640080" y="713232"/>
            <a:ext cx="10881360" cy="868680"/>
          </a:xfrm>
          <a:prstGeom prst="rect">
            <a:avLst/>
          </a:prstGeom>
          <a:noFill/>
          <a:ln/>
        </p:spPr>
        <p:txBody>
          <a:bodyPr wrap="square" lIns="0" tIns="0" rIns="0" bIns="0" rtlCol="0" anchor="ctr"/>
          <a:lstStyle/>
          <a:p>
            <a:pPr indent="0" marL="0">
              <a:buNone/>
            </a:pPr>
            <a:r>
              <a:rPr lang="en-US" sz="3800" b="1" dirty="0">
                <a:solidFill>
                  <a:srgbClr val="0B2B3A"/>
                </a:solidFill>
                <a:latin typeface="Cambria" pitchFamily="34" charset="0"/>
                <a:ea typeface="Cambria" pitchFamily="34" charset="-122"/>
                <a:cs typeface="Cambria" pitchFamily="34" charset="-120"/>
              </a:rPr>
              <a:t>The green claim, stated honestly</a:t>
            </a:r>
            <a:endParaRPr lang="en-US" sz="3800" dirty="0"/>
          </a:p>
        </p:txBody>
      </p:sp>
      <p:sp>
        <p:nvSpPr>
          <p:cNvPr id="4" name="Text 2"/>
          <p:cNvSpPr txBox="1"/>
          <p:nvPr/>
        </p:nvSpPr>
        <p:spPr>
          <a:xfrm>
            <a:off x="640080" y="1691640"/>
            <a:ext cx="10881360" cy="457200"/>
          </a:xfrm>
          <a:prstGeom prst="rect">
            <a:avLst/>
          </a:prstGeom>
          <a:noFill/>
          <a:ln/>
        </p:spPr>
        <p:txBody>
          <a:bodyPr wrap="square" lIns="0" tIns="0" rIns="0" bIns="0" rtlCol="0" anchor="ctr"/>
          <a:lstStyle/>
          <a:p>
            <a:pPr indent="0" marL="0">
              <a:buNone/>
            </a:pPr>
            <a:r>
              <a:rPr lang="en-US" sz="2000" dirty="0">
                <a:solidFill>
                  <a:srgbClr val="0B2B3A"/>
                </a:solidFill>
                <a:latin typeface="Calibri" pitchFamily="34" charset="0"/>
                <a:ea typeface="Calibri" pitchFamily="34" charset="-122"/>
                <a:cs typeface="Calibri" pitchFamily="34" charset="-120"/>
              </a:rPr>
              <a:t>Doorstep uses 55.7 L per job, all of it freshwater — a van cannot reclaim.</a:t>
            </a:r>
            <a:endParaRPr lang="en-US" sz="2000" dirty="0"/>
          </a:p>
        </p:txBody>
      </p:sp>
      <p:sp>
        <p:nvSpPr>
          <p:cNvPr id="5" name="Shape 3"/>
          <p:cNvSpPr/>
          <p:nvPr/>
        </p:nvSpPr>
        <p:spPr>
          <a:xfrm>
            <a:off x="640080" y="2377440"/>
            <a:ext cx="5303520" cy="3200400"/>
          </a:xfrm>
          <a:prstGeom prst="roundRect">
            <a:avLst>
              <a:gd name="adj" fmla="val 2286"/>
            </a:avLst>
          </a:prstGeom>
          <a:solidFill>
            <a:srgbClr val="EAF2F5"/>
          </a:solidFill>
          <a:ln w="12700">
            <a:solidFill>
              <a:srgbClr val="EAF2F5"/>
            </a:solidFill>
            <a:prstDash val="solid"/>
          </a:ln>
        </p:spPr>
      </p:sp>
      <p:sp>
        <p:nvSpPr>
          <p:cNvPr id="6" name="Text 4"/>
          <p:cNvSpPr txBox="1"/>
          <p:nvPr/>
        </p:nvSpPr>
        <p:spPr>
          <a:xfrm>
            <a:off x="960120" y="2606040"/>
            <a:ext cx="4663440" cy="320040"/>
          </a:xfrm>
          <a:prstGeom prst="rect">
            <a:avLst/>
          </a:prstGeom>
          <a:noFill/>
          <a:ln/>
        </p:spPr>
        <p:txBody>
          <a:bodyPr wrap="square" lIns="0" tIns="0" rIns="0" bIns="0" rtlCol="0" anchor="ctr"/>
          <a:lstStyle/>
          <a:p>
            <a:pPr indent="0" marL="0">
              <a:buNone/>
            </a:pPr>
            <a:r>
              <a:rPr lang="en-US" sz="1800" b="1" spc="120" kern="0" dirty="0">
                <a:solidFill>
                  <a:srgbClr val="00A896"/>
                </a:solidFill>
                <a:latin typeface="Calibri" pitchFamily="34" charset="0"/>
                <a:ea typeface="Calibri" pitchFamily="34" charset="-122"/>
                <a:cs typeface="Calibri" pitchFamily="34" charset="-120"/>
              </a:rPr>
              <a:t>WHAT WE CAN CLAIM</a:t>
            </a:r>
            <a:endParaRPr lang="en-US" sz="1800" dirty="0"/>
          </a:p>
        </p:txBody>
      </p:sp>
      <p:sp>
        <p:nvSpPr>
          <p:cNvPr id="7" name="Text 5"/>
          <p:cNvSpPr txBox="1"/>
          <p:nvPr/>
        </p:nvSpPr>
        <p:spPr>
          <a:xfrm>
            <a:off x="960120" y="3063240"/>
            <a:ext cx="4663440" cy="2194560"/>
          </a:xfrm>
          <a:prstGeom prst="rect">
            <a:avLst/>
          </a:prstGeom>
          <a:noFill/>
          <a:ln/>
        </p:spPr>
        <p:txBody>
          <a:bodyPr wrap="square" lIns="0" tIns="0" rIns="0" bIns="0" rtlCol="0" anchor="ctr"/>
          <a:lstStyle/>
          <a:p>
            <a:pPr indent="0" marL="0">
              <a:lnSpc>
                <a:spcPts val="3200"/>
              </a:lnSpc>
              <a:buNone/>
            </a:pPr>
            <a:r>
              <a:rPr lang="en-US" sz="1900" dirty="0">
                <a:solidFill>
                  <a:srgbClr val="0B2B3A"/>
                </a:solidFill>
                <a:latin typeface="Calibri" pitchFamily="34" charset="0"/>
                <a:ea typeface="Calibri" pitchFamily="34" charset="-122"/>
                <a:cs typeface="Calibri" pitchFamily="34" charset="-120"/>
              </a:rPr>
              <a:t>25% of a home hose left running</a:t>
            </a:r>
            <a:endParaRPr lang="en-US" sz="1900" dirty="0"/>
          </a:p>
          <a:p>
            <a:pPr indent="0" marL="0">
              <a:lnSpc>
                <a:spcPts val="3200"/>
              </a:lnSpc>
              <a:buNone/>
            </a:pPr>
            <a:r>
              <a:rPr lang="en-US" sz="1900" dirty="0">
                <a:solidFill>
                  <a:srgbClr val="0B2B3A"/>
                </a:solidFill>
                <a:latin typeface="Calibri" pitchFamily="34" charset="0"/>
                <a:ea typeface="Calibri" pitchFamily="34" charset="-122"/>
                <a:cs typeface="Calibri" pitchFamily="34" charset="-120"/>
              </a:rPr>
              <a:t>22% of an unreclaimed conveyor</a:t>
            </a:r>
            <a:endParaRPr lang="en-US" sz="1900" dirty="0"/>
          </a:p>
          <a:p>
            <a:pPr indent="0" marL="0">
              <a:lnSpc>
                <a:spcPts val="3200"/>
              </a:lnSpc>
              <a:buNone/>
            </a:pPr>
            <a:r>
              <a:rPr lang="en-US" sz="1900" dirty="0">
                <a:solidFill>
                  <a:srgbClr val="0B2B3A"/>
                </a:solidFill>
                <a:latin typeface="Calibri" pitchFamily="34" charset="0"/>
                <a:ea typeface="Calibri" pitchFamily="34" charset="-122"/>
                <a:cs typeface="Calibri" pitchFamily="34" charset="-120"/>
              </a:rPr>
              <a:t>49% of the measured conveyor fleet</a:t>
            </a:r>
            <a:endParaRPr lang="en-US" sz="1900" dirty="0"/>
          </a:p>
          <a:p>
            <a:pPr indent="0" marL="0">
              <a:lnSpc>
                <a:spcPts val="3200"/>
              </a:lnSpc>
              <a:buNone/>
            </a:pPr>
            <a:r>
              <a:rPr lang="en-US" sz="1900" dirty="0">
                <a:solidFill>
                  <a:srgbClr val="0B2B3A"/>
                </a:solidFill>
                <a:latin typeface="Calibri" pitchFamily="34" charset="0"/>
                <a:ea typeface="Calibri" pitchFamily="34" charset="-122"/>
                <a:cs typeface="Calibri" pitchFamily="34" charset="-120"/>
              </a:rPr>
              <a:t>Level with a self-service bay</a:t>
            </a:r>
            <a:endParaRPr lang="en-US" sz="1900" dirty="0"/>
          </a:p>
        </p:txBody>
      </p:sp>
      <p:sp>
        <p:nvSpPr>
          <p:cNvPr id="8" name="Shape 6"/>
          <p:cNvSpPr/>
          <p:nvPr/>
        </p:nvSpPr>
        <p:spPr>
          <a:xfrm>
            <a:off x="6492240" y="2377440"/>
            <a:ext cx="5029200" cy="3200400"/>
          </a:xfrm>
          <a:prstGeom prst="roundRect">
            <a:avLst>
              <a:gd name="adj" fmla="val 2286"/>
            </a:avLst>
          </a:prstGeom>
          <a:solidFill>
            <a:srgbClr val="EAF2F5"/>
          </a:solidFill>
          <a:ln w="12700">
            <a:solidFill>
              <a:srgbClr val="EAF2F5"/>
            </a:solidFill>
            <a:prstDash val="solid"/>
          </a:ln>
        </p:spPr>
      </p:sp>
      <p:sp>
        <p:nvSpPr>
          <p:cNvPr id="9" name="Text 7"/>
          <p:cNvSpPr txBox="1"/>
          <p:nvPr/>
        </p:nvSpPr>
        <p:spPr>
          <a:xfrm>
            <a:off x="6812280" y="2606040"/>
            <a:ext cx="4389120" cy="320040"/>
          </a:xfrm>
          <a:prstGeom prst="rect">
            <a:avLst/>
          </a:prstGeom>
          <a:noFill/>
          <a:ln/>
        </p:spPr>
        <p:txBody>
          <a:bodyPr wrap="square" lIns="0" tIns="0" rIns="0" bIns="0" rtlCol="0" anchor="ctr"/>
          <a:lstStyle/>
          <a:p>
            <a:pPr indent="0" marL="0">
              <a:buNone/>
            </a:pPr>
            <a:r>
              <a:rPr lang="en-US" sz="1800" b="1" spc="120" kern="0" dirty="0">
                <a:solidFill>
                  <a:srgbClr val="D9532B"/>
                </a:solidFill>
                <a:latin typeface="Calibri" pitchFamily="34" charset="0"/>
                <a:ea typeface="Calibri" pitchFamily="34" charset="-122"/>
                <a:cs typeface="Calibri" pitchFamily="34" charset="-120"/>
              </a:rPr>
              <a:t>WHAT WE CANNOT</a:t>
            </a:r>
            <a:endParaRPr lang="en-US" sz="1800" dirty="0"/>
          </a:p>
        </p:txBody>
      </p:sp>
      <p:sp>
        <p:nvSpPr>
          <p:cNvPr id="10" name="Text 8"/>
          <p:cNvSpPr txBox="1"/>
          <p:nvPr/>
        </p:nvSpPr>
        <p:spPr>
          <a:xfrm>
            <a:off x="6812280" y="3017520"/>
            <a:ext cx="4389120" cy="822960"/>
          </a:xfrm>
          <a:prstGeom prst="rect">
            <a:avLst/>
          </a:prstGeom>
          <a:noFill/>
          <a:ln/>
        </p:spPr>
        <p:txBody>
          <a:bodyPr wrap="square" lIns="0" tIns="0" rIns="0" bIns="0" rtlCol="0" anchor="ctr"/>
          <a:lstStyle/>
          <a:p>
            <a:pPr indent="0" marL="0">
              <a:buNone/>
            </a:pPr>
            <a:r>
              <a:rPr lang="en-US" sz="4800" b="1" dirty="0">
                <a:solidFill>
                  <a:srgbClr val="D9532B"/>
                </a:solidFill>
                <a:latin typeface="Cambria" pitchFamily="34" charset="0"/>
                <a:ea typeface="Cambria" pitchFamily="34" charset="-122"/>
                <a:cs typeface="Cambria" pitchFamily="34" charset="-120"/>
              </a:rPr>
              <a:t>189%</a:t>
            </a:r>
            <a:endParaRPr lang="en-US" sz="4800" dirty="0"/>
          </a:p>
        </p:txBody>
      </p:sp>
      <p:sp>
        <p:nvSpPr>
          <p:cNvPr id="11" name="Text 9"/>
          <p:cNvSpPr txBox="1"/>
          <p:nvPr/>
        </p:nvSpPr>
        <p:spPr>
          <a:xfrm>
            <a:off x="6812280" y="3931920"/>
            <a:ext cx="4389120" cy="1463040"/>
          </a:xfrm>
          <a:prstGeom prst="rect">
            <a:avLst/>
          </a:prstGeom>
          <a:noFill/>
          <a:ln/>
        </p:spPr>
        <p:txBody>
          <a:bodyPr wrap="square" lIns="0" tIns="0" rIns="0" bIns="0" rtlCol="0" anchor="ctr"/>
          <a:lstStyle/>
          <a:p>
            <a:pPr indent="0" marL="0">
              <a:lnSpc>
                <a:spcPts val="2600"/>
              </a:lnSpc>
              <a:buNone/>
            </a:pPr>
            <a:r>
              <a:rPr lang="en-US" sz="1800" dirty="0">
                <a:solidFill>
                  <a:srgbClr val="0B2B3A"/>
                </a:solidFill>
                <a:latin typeface="Calibri" pitchFamily="34" charset="0"/>
                <a:ea typeface="Calibri" pitchFamily="34" charset="-122"/>
                <a:cs typeface="Calibri" pitchFamily="34" charset="-120"/>
              </a:rPr>
              <a:t>of a reclaim-equipped tunnel. It uses about half what we do per car, and the gap is structural — reclaim needs captured runoff, which a driveway cannot give.</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2B3A"/>
        </a:solidFill>
      </p:bgPr>
    </p:bg>
    <p:spTree>
      <p:nvGrpSpPr>
        <p:cNvPr id="1" name=""/>
        <p:cNvGrpSpPr/>
        <p:nvPr/>
      </p:nvGrpSpPr>
      <p:grpSpPr>
        <a:xfrm>
          <a:off x="0" y="0"/>
          <a:ext cx="0" cy="0"/>
          <a:chOff x="0" y="0"/>
          <a:chExt cx="0" cy="0"/>
        </a:xfrm>
      </p:grpSpPr>
      <p:sp>
        <p:nvSpPr>
          <p:cNvPr id="2" name="Text 0"/>
          <p:cNvSpPr txBox="1"/>
          <p:nvPr/>
        </p:nvSpPr>
        <p:spPr>
          <a:xfrm>
            <a:off x="640080" y="777240"/>
            <a:ext cx="10881360" cy="7772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What we would tell the company</a:t>
            </a:r>
            <a:endParaRPr lang="en-US" sz="4000" dirty="0"/>
          </a:p>
        </p:txBody>
      </p:sp>
      <p:sp>
        <p:nvSpPr>
          <p:cNvPr id="3" name="Text 1"/>
          <p:cNvSpPr txBox="1"/>
          <p:nvPr/>
        </p:nvSpPr>
        <p:spPr>
          <a:xfrm>
            <a:off x="640080" y="1828800"/>
            <a:ext cx="548640" cy="548640"/>
          </a:xfrm>
          <a:prstGeom prst="rect">
            <a:avLst/>
          </a:prstGeom>
          <a:noFill/>
          <a:ln/>
        </p:spPr>
        <p:txBody>
          <a:bodyPr wrap="square" lIns="0" tIns="0" rIns="0" bIns="0" rtlCol="0" anchor="ctr"/>
          <a:lstStyle/>
          <a:p>
            <a:pPr indent="0" marL="0">
              <a:buNone/>
            </a:pPr>
            <a:r>
              <a:rPr lang="en-US" sz="3000" b="1" dirty="0">
                <a:solidFill>
                  <a:srgbClr val="00A896"/>
                </a:solidFill>
                <a:latin typeface="Cambria" pitchFamily="34" charset="0"/>
                <a:ea typeface="Cambria" pitchFamily="34" charset="-122"/>
                <a:cs typeface="Cambria" pitchFamily="34" charset="-120"/>
              </a:rPr>
              <a:t>1</a:t>
            </a:r>
            <a:endParaRPr lang="en-US" sz="3000" dirty="0"/>
          </a:p>
        </p:txBody>
      </p:sp>
      <p:sp>
        <p:nvSpPr>
          <p:cNvPr id="4" name="Text 2"/>
          <p:cNvSpPr txBox="1"/>
          <p:nvPr/>
        </p:nvSpPr>
        <p:spPr>
          <a:xfrm>
            <a:off x="1325880" y="1828800"/>
            <a:ext cx="10058400" cy="41148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Quote capacity with a service level</a:t>
            </a:r>
            <a:endParaRPr lang="en-US" sz="2400" dirty="0"/>
          </a:p>
        </p:txBody>
      </p:sp>
      <p:sp>
        <p:nvSpPr>
          <p:cNvPr id="5" name="Text 3"/>
          <p:cNvSpPr txBox="1"/>
          <p:nvPr/>
        </p:nvSpPr>
        <p:spPr>
          <a:xfrm>
            <a:off x="1325880" y="2286000"/>
            <a:ext cx="10058400" cy="411480"/>
          </a:xfrm>
          <a:prstGeom prst="rect">
            <a:avLst/>
          </a:prstGeom>
          <a:noFill/>
          <a:ln/>
        </p:spPr>
        <p:txBody>
          <a:bodyPr wrap="square" lIns="0" tIns="0" rIns="0" bIns="0" rtlCol="0" anchor="ctr"/>
          <a:lstStyle/>
          <a:p>
            <a:pPr indent="0" marL="0">
              <a:buNone/>
            </a:pPr>
            <a:r>
              <a:rPr lang="en-US" sz="1900" dirty="0">
                <a:solidFill>
                  <a:srgbClr val="9FB6C0"/>
                </a:solidFill>
                <a:latin typeface="Calibri" pitchFamily="34" charset="0"/>
                <a:ea typeface="Calibri" pitchFamily="34" charset="-122"/>
                <a:cs typeface="Calibri" pitchFamily="34" charset="-120"/>
              </a:rPr>
              <a:t>2 / 4 / 5 jobs at 95%, never a bare number</a:t>
            </a:r>
            <a:endParaRPr lang="en-US" sz="1900" dirty="0"/>
          </a:p>
        </p:txBody>
      </p:sp>
      <p:sp>
        <p:nvSpPr>
          <p:cNvPr id="6" name="Text 4"/>
          <p:cNvSpPr txBox="1"/>
          <p:nvPr/>
        </p:nvSpPr>
        <p:spPr>
          <a:xfrm>
            <a:off x="640080" y="3063240"/>
            <a:ext cx="548640" cy="548640"/>
          </a:xfrm>
          <a:prstGeom prst="rect">
            <a:avLst/>
          </a:prstGeom>
          <a:noFill/>
          <a:ln/>
        </p:spPr>
        <p:txBody>
          <a:bodyPr wrap="square" lIns="0" tIns="0" rIns="0" bIns="0" rtlCol="0" anchor="ctr"/>
          <a:lstStyle/>
          <a:p>
            <a:pPr indent="0" marL="0">
              <a:buNone/>
            </a:pPr>
            <a:r>
              <a:rPr lang="en-US" sz="3000" b="1" dirty="0">
                <a:solidFill>
                  <a:srgbClr val="00A896"/>
                </a:solidFill>
                <a:latin typeface="Cambria" pitchFamily="34" charset="0"/>
                <a:ea typeface="Cambria" pitchFamily="34" charset="-122"/>
                <a:cs typeface="Cambria" pitchFamily="34" charset="-120"/>
              </a:rPr>
              <a:t>2</a:t>
            </a:r>
            <a:endParaRPr lang="en-US" sz="3000" dirty="0"/>
          </a:p>
        </p:txBody>
      </p:sp>
      <p:sp>
        <p:nvSpPr>
          <p:cNvPr id="7" name="Text 5"/>
          <p:cNvSpPr txBox="1"/>
          <p:nvPr/>
        </p:nvSpPr>
        <p:spPr>
          <a:xfrm>
            <a:off x="1325880" y="3063240"/>
            <a:ext cx="10058400" cy="41148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Plan on refills, not jobs per tank</a:t>
            </a:r>
            <a:endParaRPr lang="en-US" sz="2400" dirty="0"/>
          </a:p>
        </p:txBody>
      </p:sp>
      <p:sp>
        <p:nvSpPr>
          <p:cNvPr id="8" name="Text 6"/>
          <p:cNvSpPr txBox="1"/>
          <p:nvPr/>
        </p:nvSpPr>
        <p:spPr>
          <a:xfrm>
            <a:off x="1325880" y="3520440"/>
            <a:ext cx="10058400" cy="411480"/>
          </a:xfrm>
          <a:prstGeom prst="rect">
            <a:avLst/>
          </a:prstGeom>
          <a:noFill/>
          <a:ln/>
        </p:spPr>
        <p:txBody>
          <a:bodyPr wrap="square" lIns="0" tIns="0" rIns="0" bIns="0" rtlCol="0" anchor="ctr"/>
          <a:lstStyle/>
          <a:p>
            <a:pPr indent="0" marL="0">
              <a:buNone/>
            </a:pPr>
            <a:r>
              <a:rPr lang="en-US" sz="1900" dirty="0">
                <a:solidFill>
                  <a:srgbClr val="9FB6C0"/>
                </a:solidFill>
                <a:latin typeface="Calibri" pitchFamily="34" charset="0"/>
                <a:ea typeface="Calibri" pitchFamily="34" charset="-122"/>
                <a:cs typeface="Calibri" pitchFamily="34" charset="-120"/>
              </a:rPr>
              <a:t>0.88 / 0.45 / 0.26 interruptions per crew-day</a:t>
            </a:r>
            <a:endParaRPr lang="en-US" sz="1900" dirty="0"/>
          </a:p>
        </p:txBody>
      </p:sp>
      <p:sp>
        <p:nvSpPr>
          <p:cNvPr id="9" name="Text 7"/>
          <p:cNvSpPr txBox="1"/>
          <p:nvPr/>
        </p:nvSpPr>
        <p:spPr>
          <a:xfrm>
            <a:off x="640080" y="4297680"/>
            <a:ext cx="548640" cy="548640"/>
          </a:xfrm>
          <a:prstGeom prst="rect">
            <a:avLst/>
          </a:prstGeom>
          <a:noFill/>
          <a:ln/>
        </p:spPr>
        <p:txBody>
          <a:bodyPr wrap="square" lIns="0" tIns="0" rIns="0" bIns="0" rtlCol="0" anchor="ctr"/>
          <a:lstStyle/>
          <a:p>
            <a:pPr indent="0" marL="0">
              <a:buNone/>
            </a:pPr>
            <a:r>
              <a:rPr lang="en-US" sz="3000" b="1" dirty="0">
                <a:solidFill>
                  <a:srgbClr val="00A896"/>
                </a:solidFill>
                <a:latin typeface="Cambria" pitchFamily="34" charset="0"/>
                <a:ea typeface="Cambria" pitchFamily="34" charset="-122"/>
                <a:cs typeface="Cambria" pitchFamily="34" charset="-120"/>
              </a:rPr>
              <a:t>3</a:t>
            </a:r>
            <a:endParaRPr lang="en-US" sz="3000" dirty="0"/>
          </a:p>
        </p:txBody>
      </p:sp>
      <p:sp>
        <p:nvSpPr>
          <p:cNvPr id="10" name="Text 8"/>
          <p:cNvSpPr txBox="1"/>
          <p:nvPr/>
        </p:nvSpPr>
        <p:spPr>
          <a:xfrm>
            <a:off x="1325880" y="4297680"/>
            <a:ext cx="10058400" cy="41148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Feed the optimiser the interval</a:t>
            </a:r>
            <a:endParaRPr lang="en-US" sz="2400" dirty="0"/>
          </a:p>
        </p:txBody>
      </p:sp>
      <p:sp>
        <p:nvSpPr>
          <p:cNvPr id="11" name="Text 9"/>
          <p:cNvSpPr txBox="1"/>
          <p:nvPr/>
        </p:nvSpPr>
        <p:spPr>
          <a:xfrm>
            <a:off x="1325880" y="4754880"/>
            <a:ext cx="10058400" cy="411480"/>
          </a:xfrm>
          <a:prstGeom prst="rect">
            <a:avLst/>
          </a:prstGeom>
          <a:noFill/>
          <a:ln/>
        </p:spPr>
        <p:txBody>
          <a:bodyPr wrap="square" lIns="0" tIns="0" rIns="0" bIns="0" rtlCol="0" anchor="ctr"/>
          <a:lstStyle/>
          <a:p>
            <a:pPr indent="0" marL="0">
              <a:buNone/>
            </a:pPr>
            <a:r>
              <a:rPr lang="en-US" sz="1900" dirty="0">
                <a:solidFill>
                  <a:srgbClr val="9FB6C0"/>
                </a:solidFill>
                <a:latin typeface="Calibri" pitchFamily="34" charset="0"/>
                <a:ea typeface="Calibri" pitchFamily="34" charset="-122"/>
                <a:cs typeface="Calibri" pitchFamily="34" charset="-120"/>
              </a:rPr>
              <a:t>the point estimate doubles the rate of running dry</a:t>
            </a:r>
            <a:endParaRPr lang="en-US" sz="1900" dirty="0"/>
          </a:p>
        </p:txBody>
      </p:sp>
      <p:sp>
        <p:nvSpPr>
          <p:cNvPr id="12" name="Text 10"/>
          <p:cNvSpPr txBox="1"/>
          <p:nvPr/>
        </p:nvSpPr>
        <p:spPr>
          <a:xfrm>
            <a:off x="640080" y="5623560"/>
            <a:ext cx="10881360" cy="731520"/>
          </a:xfrm>
          <a:prstGeom prst="rect">
            <a:avLst/>
          </a:prstGeom>
          <a:noFill/>
          <a:ln/>
        </p:spPr>
        <p:txBody>
          <a:bodyPr wrap="square" lIns="0" tIns="0" rIns="0" bIns="0" rtlCol="0" anchor="ctr"/>
          <a:lstStyle/>
          <a:p>
            <a:pPr indent="0" marL="0">
              <a:buNone/>
            </a:pPr>
            <a:r>
              <a:rPr lang="en-US" sz="1900" i="1" dirty="0">
                <a:solidFill>
                  <a:srgbClr val="00A896"/>
                </a:solidFill>
                <a:latin typeface="Calibri" pitchFamily="34" charset="0"/>
                <a:ea typeface="Calibri" pitchFamily="34" charset="-122"/>
                <a:cs typeface="Calibri" pitchFamily="34" charset="-120"/>
              </a:rPr>
              <a:t>Biggest open gap: if A14's photo check can grade dirt at booking, our planning error halves — from 5.90 L to 2.40 L.</a:t>
            </a:r>
            <a:endParaRPr lang="en-US" sz="1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A7 — Water and Supplies</dc:title>
  <dc:subject>PptxGenJS Presentation</dc:subject>
  <dc:creator>A7 Water and Supplies</dc:creator>
  <cp:lastModifiedBy>A7 Water and Supplies</cp:lastModifiedBy>
  <cp:revision>1</cp:revision>
  <dcterms:created xsi:type="dcterms:W3CDTF">2026-09-12T17:38:55Z</dcterms:created>
  <dcterms:modified xsi:type="dcterms:W3CDTF">2026-09-12T17:38:55Z</dcterms:modified>
</cp:coreProperties>
</file>